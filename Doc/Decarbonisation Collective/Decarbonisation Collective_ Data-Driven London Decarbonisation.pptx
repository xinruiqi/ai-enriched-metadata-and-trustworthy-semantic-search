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 SemiBold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Roboto Mono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RobotoMonoSemiBold-italic.fntdata"/><Relationship Id="rId14" Type="http://schemas.openxmlformats.org/officeDocument/2006/relationships/font" Target="fonts/RobotoMonoSemiBold-bold.fntdata"/><Relationship Id="rId17" Type="http://schemas.openxmlformats.org/officeDocument/2006/relationships/font" Target="fonts/InterSemiBold-regular.fntdata"/><Relationship Id="rId16" Type="http://schemas.openxmlformats.org/officeDocument/2006/relationships/font" Target="fonts/RobotoMonoSemiBold-boldItalic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033d0bbb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033d0bbb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1033d0bbb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1033d0bb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033d0bb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1033d0bb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1033d0bbb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1033d0bb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033d0bbb_7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1033d0bbb_7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1033d0bbb_7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1033d0bbb_7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1033d0bbb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1033d0bbb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033d0bbb_13_0)">
  <p:cSld name="Generated (g3f1033d0bbb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81113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66988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3852863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43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1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" name="Google Shape;61;p14"/>
          <p:cNvGrpSpPr/>
          <p:nvPr/>
        </p:nvGrpSpPr>
        <p:grpSpPr>
          <a:xfrm>
            <a:off x="457200" y="457200"/>
            <a:ext cx="3238500" cy="324000"/>
            <a:chOff x="0" y="0"/>
            <a:chExt cx="3238500" cy="3240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cubicBezTo>
                    <a:pt x="0" y="26861"/>
                    <a:pt x="26861" y="0"/>
                    <a:pt x="60000" y="0"/>
                  </a:cubicBezTo>
                  <a:cubicBezTo>
                    <a:pt x="93139" y="0"/>
                    <a:pt x="120000" y="26861"/>
                    <a:pt x="120000" y="60000"/>
                  </a:cubicBezTo>
                  <a:cubicBezTo>
                    <a:pt x="120000" y="93139"/>
                    <a:pt x="93139" y="120000"/>
                    <a:pt x="60000" y="120000"/>
                  </a:cubicBezTo>
                  <a:cubicBezTo>
                    <a:pt x="26861" y="120000"/>
                    <a:pt x="0" y="93139"/>
                    <a:pt x="0" y="60000"/>
                  </a:cubicBezTo>
                  <a:close/>
                </a:path>
              </a:pathLst>
            </a:custGeom>
            <a:solidFill>
              <a:srgbClr val="00A36C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8100" y="38100"/>
              <a:ext cx="228600" cy="228600"/>
            </a:xfrm>
            <a:custGeom>
              <a:rect b="b" l="l" r="r" t="t"/>
              <a:pathLst>
                <a:path extrusionOk="0" fill="none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00A3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95250" y="95250"/>
              <a:ext cx="114300" cy="114300"/>
            </a:xfrm>
            <a:prstGeom prst="ellipse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7625" y="4762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00025" y="20002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381000" y="381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2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Decarbonisation Collective</a:t>
              </a:r>
              <a:endParaRPr b="0" sz="1200">
                <a:solidFill>
                  <a:srgbClr val="1A1F2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457200" y="1552575"/>
            <a:ext cx="8229600" cy="2038350"/>
            <a:chOff x="0" y="0"/>
            <a:chExt cx="8229600" cy="2038350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0" y="0"/>
              <a:ext cx="8229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3600">
                  <a:solidFill>
                    <a:srgbClr val="1A1F24"/>
                  </a:solidFill>
                  <a:latin typeface="Inter"/>
                  <a:ea typeface="Inter"/>
                  <a:cs typeface="Inter"/>
                  <a:sym typeface="Inter"/>
                </a:rPr>
                <a:t>Decarbonisation Collective</a:t>
              </a:r>
              <a:endParaRPr b="1" sz="36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0" y="895350"/>
              <a:ext cx="8229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Data-Driven London Decarbonisation: A Collective Effort for London's Net-Zero Future</a:t>
              </a:r>
              <a:endParaRPr b="0" sz="20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457200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457200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457200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457200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en" sz="200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Dhivya, Kristina, Stephanie </a:t>
              </a:r>
              <a:endParaRPr sz="20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71" name="Google Shape;71;p14"/>
          <p:cNvSpPr txBox="1"/>
          <p:nvPr/>
        </p:nvSpPr>
        <p:spPr>
          <a:xfrm>
            <a:off x="4557375" y="3959300"/>
            <a:ext cx="46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pic>
          <p:nvPicPr>
            <p:cNvPr id="77" name="Google Shape;7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81113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66988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3852863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43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1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15"/>
          <p:cNvSpPr txBox="1"/>
          <p:nvPr/>
        </p:nvSpPr>
        <p:spPr>
          <a:xfrm>
            <a:off x="457200" y="49530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rPr>
              <a:t>01 // LONDON'S BUILT ENVIRONMENT</a:t>
            </a:r>
            <a:endParaRPr b="1" sz="1000">
              <a:solidFill>
                <a:srgbClr val="4A55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>
            <a:off x="5829300" y="457200"/>
            <a:ext cx="3238500" cy="324000"/>
            <a:chOff x="0" y="0"/>
            <a:chExt cx="3238500" cy="324000"/>
          </a:xfrm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cubicBezTo>
                    <a:pt x="0" y="26861"/>
                    <a:pt x="26861" y="0"/>
                    <a:pt x="60000" y="0"/>
                  </a:cubicBezTo>
                  <a:cubicBezTo>
                    <a:pt x="93139" y="0"/>
                    <a:pt x="120000" y="26861"/>
                    <a:pt x="120000" y="60000"/>
                  </a:cubicBezTo>
                  <a:cubicBezTo>
                    <a:pt x="120000" y="93139"/>
                    <a:pt x="93139" y="120000"/>
                    <a:pt x="60000" y="120000"/>
                  </a:cubicBezTo>
                  <a:cubicBezTo>
                    <a:pt x="26861" y="120000"/>
                    <a:pt x="0" y="93139"/>
                    <a:pt x="0" y="60000"/>
                  </a:cubicBezTo>
                  <a:close/>
                </a:path>
              </a:pathLst>
            </a:custGeom>
            <a:solidFill>
              <a:srgbClr val="00A36C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38100" y="38100"/>
              <a:ext cx="228600" cy="228600"/>
            </a:xfrm>
            <a:custGeom>
              <a:rect b="b" l="l" r="r" t="t"/>
              <a:pathLst>
                <a:path extrusionOk="0" fill="none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00A3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95250" y="95250"/>
              <a:ext cx="114300" cy="114300"/>
            </a:xfrm>
            <a:prstGeom prst="ellipse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47625" y="4762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00025" y="20002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381000" y="381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Decarbonisation Collective</a:t>
              </a:r>
              <a:endParaRPr b="0" sz="1200">
                <a:solidFill>
                  <a:srgbClr val="1A1F2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90" name="Google Shape;90;p15"/>
          <p:cNvSpPr/>
          <p:nvPr/>
        </p:nvSpPr>
        <p:spPr>
          <a:xfrm>
            <a:off x="457200" y="1333500"/>
            <a:ext cx="8229600" cy="30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5"/>
          <p:cNvCxnSpPr/>
          <p:nvPr/>
        </p:nvCxnSpPr>
        <p:spPr>
          <a:xfrm>
            <a:off x="4572000" y="1333500"/>
            <a:ext cx="0" cy="3048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2" name="Google Shape;92;p15"/>
          <p:cNvGrpSpPr/>
          <p:nvPr/>
        </p:nvGrpSpPr>
        <p:grpSpPr>
          <a:xfrm>
            <a:off x="685800" y="1571625"/>
            <a:ext cx="3657600" cy="2619450"/>
            <a:chOff x="685800" y="1571625"/>
            <a:chExt cx="3657600" cy="2619450"/>
          </a:xfrm>
        </p:grpSpPr>
        <p:sp>
          <p:nvSpPr>
            <p:cNvPr id="93" name="Google Shape;93;p15"/>
            <p:cNvSpPr txBox="1"/>
            <p:nvPr/>
          </p:nvSpPr>
          <p:spPr>
            <a:xfrm>
              <a:off x="685800" y="1571625"/>
              <a:ext cx="36576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800">
                  <a:solidFill>
                    <a:srgbClr val="1A1F24"/>
                  </a:solidFill>
                  <a:latin typeface="Inter"/>
                  <a:ea typeface="Inter"/>
                  <a:cs typeface="Inter"/>
                  <a:sym typeface="Inter"/>
                </a:rPr>
                <a:t>Buildings account for nearly 70% of London's total carbon emissions.</a:t>
              </a:r>
              <a:endParaRPr b="1" sz="18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685800" y="2619375"/>
              <a:ext cx="36576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A1F24"/>
                  </a:solidFill>
                  <a:latin typeface="Inter"/>
                  <a:ea typeface="Inter"/>
                  <a:cs typeface="Inter"/>
                  <a:sym typeface="Inter"/>
                </a:rPr>
                <a:t>London's built environment consists of over 3 million diverse properties, ranging from historic Victorian terraces to modern commercial skyscrapers. This vast and aging building stock presents a massive decarbonisation challenge.</a:t>
              </a:r>
              <a:endParaRPr b="0" sz="1018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1018">
                  <a:solidFill>
                    <a:srgbClr val="1A1F24"/>
                  </a:solidFill>
                  <a:latin typeface="Inter"/>
                  <a:ea typeface="Inter"/>
                  <a:cs typeface="Inter"/>
                  <a:sym typeface="Inter"/>
                </a:rPr>
                <a:t>Retrofitting these structures requires identifying precise emission patterns, energy inefficiencies, and heating demands across boroughs to prioritize high-impact interventions.</a:t>
              </a:r>
              <a:endParaRPr b="0" sz="1018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800600" y="1714500"/>
            <a:ext cx="3657600" cy="2428875"/>
            <a:chOff x="4800600" y="1714500"/>
            <a:chExt cx="3657600" cy="2428875"/>
          </a:xfrm>
        </p:grpSpPr>
        <p:sp>
          <p:nvSpPr>
            <p:cNvPr id="96" name="Google Shape;96;p15"/>
            <p:cNvSpPr txBox="1"/>
            <p:nvPr/>
          </p:nvSpPr>
          <p:spPr>
            <a:xfrm>
              <a:off x="4800600" y="1714500"/>
              <a:ext cx="3657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BUILDING EMISSION SHARE</a:t>
              </a:r>
              <a:endParaRPr b="0" sz="1000">
                <a:solidFill>
                  <a:srgbClr val="4A556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4800600" y="2047875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20">
                  <a:solidFill>
                    <a:srgbClr val="00A36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70%</a:t>
              </a:r>
              <a:endParaRPr b="1" sz="5920">
                <a:solidFill>
                  <a:srgbClr val="00A36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98" name="Google Shape;98;p15"/>
            <p:cNvCxnSpPr/>
            <p:nvPr/>
          </p:nvCxnSpPr>
          <p:spPr>
            <a:xfrm>
              <a:off x="4800600" y="3048000"/>
              <a:ext cx="3657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A36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" name="Google Shape;99;p15"/>
            <p:cNvSpPr txBox="1"/>
            <p:nvPr/>
          </p:nvSpPr>
          <p:spPr>
            <a:xfrm>
              <a:off x="4800600" y="3190875"/>
              <a:ext cx="365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F24"/>
                  </a:solidFill>
                  <a:latin typeface="Inter"/>
                  <a:ea typeface="Inter"/>
                  <a:cs typeface="Inter"/>
                  <a:sym typeface="Inter"/>
                </a:rPr>
                <a:t>CRITICAL PATHWAY</a:t>
              </a:r>
              <a:endParaRPr b="1" sz="11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Addressing the heating inefficiencies of these 3 million properties is the absolute priority for municipal decarbonisation efforts.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457200" y="4686300"/>
            <a:ext cx="8229600" cy="304800"/>
            <a:chOff x="457200" y="4686300"/>
            <a:chExt cx="8229600" cy="304800"/>
          </a:xfrm>
        </p:grpSpPr>
        <p:cxnSp>
          <p:nvCxnSpPr>
            <p:cNvPr id="101" name="Google Shape;101;p15"/>
            <p:cNvCxnSpPr/>
            <p:nvPr/>
          </p:nvCxnSpPr>
          <p:spPr>
            <a:xfrm>
              <a:off x="457200" y="46863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" name="Google Shape;102;p15"/>
            <p:cNvSpPr txBox="1"/>
            <p:nvPr/>
          </p:nvSpPr>
          <p:spPr>
            <a:xfrm>
              <a:off x="457200" y="47625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Decarbonisation Collective</a:t>
              </a:r>
              <a:endParaRPr b="0" sz="1200">
                <a:solidFill>
                  <a:srgbClr val="1A1F2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108" name="Google Shape;108;p16"/>
            <p:cNvCxnSpPr/>
            <p:nvPr/>
          </p:nvCxnSpPr>
          <p:spPr>
            <a:xfrm>
              <a:off x="0" y="1281113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16"/>
            <p:cNvCxnSpPr/>
            <p:nvPr/>
          </p:nvCxnSpPr>
          <p:spPr>
            <a:xfrm>
              <a:off x="0" y="2566988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16"/>
            <p:cNvCxnSpPr/>
            <p:nvPr/>
          </p:nvCxnSpPr>
          <p:spPr>
            <a:xfrm>
              <a:off x="0" y="3852863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16"/>
            <p:cNvCxnSpPr/>
            <p:nvPr/>
          </p:nvCxnSpPr>
          <p:spPr>
            <a:xfrm>
              <a:off x="3043238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16"/>
            <p:cNvCxnSpPr/>
            <p:nvPr/>
          </p:nvCxnSpPr>
          <p:spPr>
            <a:xfrm>
              <a:off x="6091238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3" name="Google Shape;113;p16"/>
          <p:cNvGrpSpPr/>
          <p:nvPr/>
        </p:nvGrpSpPr>
        <p:grpSpPr>
          <a:xfrm>
            <a:off x="457200" y="400050"/>
            <a:ext cx="2286000" cy="304800"/>
            <a:chOff x="0" y="0"/>
            <a:chExt cx="2286000" cy="3048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cubicBezTo>
                    <a:pt x="0" y="26850"/>
                    <a:pt x="26850" y="0"/>
                    <a:pt x="60000" y="0"/>
                  </a:cubicBezTo>
                  <a:lnTo>
                    <a:pt x="120000" y="26850"/>
                  </a:lnTo>
                  <a:lnTo>
                    <a:pt x="120000" y="60000"/>
                  </a:lnTo>
                  <a:lnTo>
                    <a:pt x="93150" y="120000"/>
                  </a:lnTo>
                  <a:lnTo>
                    <a:pt x="60000" y="120000"/>
                  </a:lnTo>
                  <a:lnTo>
                    <a:pt x="0" y="9315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8100" y="3810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00A3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95250" y="95250"/>
              <a:ext cx="114300" cy="114300"/>
            </a:xfrm>
            <a:prstGeom prst="ellipse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19050" y="19050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171450" y="171450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381000" y="3810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Decarbonisation Collective</a:t>
              </a:r>
              <a:endParaRPr b="0" sz="900">
                <a:solidFill>
                  <a:srgbClr val="1A1F2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20" name="Google Shape;120;p16"/>
          <p:cNvSpPr txBox="1"/>
          <p:nvPr/>
        </p:nvSpPr>
        <p:spPr>
          <a:xfrm>
            <a:off x="457200" y="895350"/>
            <a:ext cx="82296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00A36C"/>
                </a:solidFill>
                <a:latin typeface="Roboto Mono"/>
                <a:ea typeface="Roboto Mono"/>
                <a:cs typeface="Roboto Mono"/>
                <a:sym typeface="Roboto Mono"/>
              </a:rPr>
              <a:t>03 // THE PROBLEM</a:t>
            </a:r>
            <a:endParaRPr b="1" sz="750">
              <a:solidFill>
                <a:srgbClr val="00A36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Warmer homes for all, delivered through data-driven triage.</a:t>
            </a:r>
            <a:endParaRPr b="1" sz="1800">
              <a:solidFill>
                <a:srgbClr val="1A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London wants </a:t>
            </a:r>
            <a:r>
              <a:rPr b="1" lang="en" sz="9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warmer homes for all</a:t>
            </a:r>
            <a:r>
              <a:rPr b="0" lang="en" sz="9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— homes that hit the </a:t>
            </a:r>
            <a:r>
              <a:rPr b="1" lang="en" sz="9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EPC C</a:t>
            </a:r>
            <a:r>
              <a:rPr b="0" lang="en" sz="9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standard, lift households out of </a:t>
            </a:r>
            <a:r>
              <a:rPr b="1" lang="en" sz="9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fuel poverty</a:t>
            </a:r>
            <a:r>
              <a:rPr b="0" lang="en" sz="9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, and move the city towards </a:t>
            </a:r>
            <a:r>
              <a:rPr b="1" lang="en" sz="90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net zero</a:t>
            </a:r>
            <a:r>
              <a:rPr b="0" lang="en" sz="9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. The hard part is triage: millions of properties, finite budgets, and vulnerable low-income households.</a:t>
            </a:r>
            <a:endParaRPr b="0" sz="9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57200" y="2095500"/>
            <a:ext cx="3810000" cy="2419500"/>
          </a:xfrm>
          <a:prstGeom prst="roundRect">
            <a:avLst>
              <a:gd fmla="val 23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85800" y="2305050"/>
            <a:ext cx="33528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8">
                <a:solidFill>
                  <a:srgbClr val="00A36C"/>
                </a:solidFill>
                <a:latin typeface="Inter"/>
                <a:ea typeface="Inter"/>
                <a:cs typeface="Inter"/>
                <a:sym typeface="Inter"/>
              </a:rPr>
              <a:t>THE TRIAGE CHALLENGE</a:t>
            </a:r>
            <a:endParaRPr b="1" sz="578">
              <a:solidFill>
                <a:srgbClr val="00A36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863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challenge brief puts it plainly: </a:t>
            </a:r>
            <a:r>
              <a:rPr b="1" lang="en" sz="863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"How data can help deliver retrofit for low-income Londoners."</a:t>
            </a:r>
            <a:r>
              <a:rPr b="0" lang="en" sz="863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So the real question is not "which homes are inefficient?" </a:t>
            </a:r>
            <a:endParaRPr b="0" sz="863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863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It's four questions at once:</a:t>
            </a:r>
            <a:endParaRPr b="0" sz="863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578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01. Need</a:t>
            </a:r>
            <a:endParaRPr b="1" sz="578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Which homes need physical retrofit work?</a:t>
            </a:r>
            <a:endParaRPr b="1" sz="7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8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02. Benefit</a:t>
            </a:r>
            <a:endParaRPr b="1" sz="578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Which properties would benefit the most?</a:t>
            </a:r>
            <a:endParaRPr b="1" sz="7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8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03. Funding</a:t>
            </a:r>
            <a:endParaRPr b="1" sz="578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Who should pay for these upgrades?</a:t>
            </a:r>
            <a:endParaRPr b="1" sz="7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8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04. Action</a:t>
            </a:r>
            <a:endParaRPr b="1" sz="578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What exactly should be done first?</a:t>
            </a:r>
            <a:endParaRPr b="1" sz="7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457700" y="2095500"/>
            <a:ext cx="4229100" cy="2419500"/>
          </a:xfrm>
          <a:prstGeom prst="roundRect">
            <a:avLst>
              <a:gd fmla="val 23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86300" y="2266950"/>
            <a:ext cx="37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8">
                <a:solidFill>
                  <a:srgbClr val="00A36C"/>
                </a:solidFill>
                <a:latin typeface="Inter"/>
                <a:ea typeface="Inter"/>
                <a:cs typeface="Inter"/>
                <a:sym typeface="Inter"/>
              </a:rPr>
              <a:t>THE DECISION FUNNEL (LBSM v2)</a:t>
            </a:r>
            <a:endParaRPr b="1" sz="578">
              <a:solidFill>
                <a:srgbClr val="00A36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578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 single, explainable funnel built on the </a:t>
            </a:r>
            <a:r>
              <a:rPr b="1" lang="en" sz="578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London Building Stock Model</a:t>
            </a:r>
            <a:r>
              <a:rPr b="0" lang="en" sz="578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to process every borough property.</a:t>
            </a:r>
            <a:endParaRPr b="0" sz="578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5391150" y="2705100"/>
            <a:ext cx="2362200" cy="324000"/>
            <a:chOff x="0" y="0"/>
            <a:chExt cx="2362200" cy="3240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2362200" cy="324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05484" y="120000"/>
                  </a:lnTo>
                  <a:lnTo>
                    <a:pt x="14516" y="120000"/>
                  </a:lnTo>
                  <a:close/>
                </a:path>
              </a:pathLst>
            </a:cu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285750" y="76200"/>
              <a:ext cx="17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5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ALL BOROUGH PROPERTIES</a:t>
              </a:r>
              <a:endParaRPr sz="980"/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5505450" y="3067050"/>
            <a:ext cx="2133600" cy="324000"/>
            <a:chOff x="114300" y="0"/>
            <a:chExt cx="2133600" cy="324000"/>
          </a:xfrm>
        </p:grpSpPr>
        <p:sp>
          <p:nvSpPr>
            <p:cNvPr id="129" name="Google Shape;129;p16"/>
            <p:cNvSpPr/>
            <p:nvPr/>
          </p:nvSpPr>
          <p:spPr>
            <a:xfrm>
              <a:off x="114300" y="0"/>
              <a:ext cx="2133600" cy="324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03929" y="120000"/>
                  </a:lnTo>
                  <a:lnTo>
                    <a:pt x="16071" y="120000"/>
                  </a:lnTo>
                  <a:close/>
                </a:path>
              </a:pathLst>
            </a:custGeom>
            <a:solidFill>
              <a:srgbClr val="0C8E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400050" y="76200"/>
              <a:ext cx="1562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1. PRIORITY TIER</a:t>
              </a:r>
              <a:endParaRPr sz="980"/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5619750" y="3429000"/>
            <a:ext cx="1905000" cy="324000"/>
            <a:chOff x="228600" y="0"/>
            <a:chExt cx="1905000" cy="324000"/>
          </a:xfrm>
        </p:grpSpPr>
        <p:sp>
          <p:nvSpPr>
            <p:cNvPr id="132" name="Google Shape;132;p16"/>
            <p:cNvSpPr/>
            <p:nvPr/>
          </p:nvSpPr>
          <p:spPr>
            <a:xfrm>
              <a:off x="228600" y="0"/>
              <a:ext cx="1905000" cy="324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02000" y="120000"/>
                  </a:lnTo>
                  <a:lnTo>
                    <a:pt x="18000" y="120000"/>
                  </a:lnTo>
                  <a:close/>
                </a:path>
              </a:pathLst>
            </a:custGeom>
            <a:solidFill>
              <a:srgbClr val="1379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514350" y="7620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2. FUNDING ROUTE</a:t>
              </a:r>
              <a:endParaRPr sz="980"/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5734050" y="3790950"/>
            <a:ext cx="1676400" cy="324000"/>
            <a:chOff x="342900" y="0"/>
            <a:chExt cx="1676400" cy="324000"/>
          </a:xfrm>
        </p:grpSpPr>
        <p:sp>
          <p:nvSpPr>
            <p:cNvPr id="135" name="Google Shape;135;p16"/>
            <p:cNvSpPr/>
            <p:nvPr/>
          </p:nvSpPr>
          <p:spPr>
            <a:xfrm>
              <a:off x="342900" y="0"/>
              <a:ext cx="1676400" cy="324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99545" y="120000"/>
                  </a:lnTo>
                  <a:lnTo>
                    <a:pt x="20455" y="120000"/>
                  </a:lnTo>
                  <a:close/>
                </a:path>
              </a:pathLst>
            </a:custGeom>
            <a:solidFill>
              <a:srgbClr val="1B6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628650" y="76200"/>
              <a:ext cx="1104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3. RECOMMENDED MEASURE</a:t>
              </a:r>
              <a:endParaRPr sz="980"/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5848350" y="4152900"/>
            <a:ext cx="1447800" cy="285900"/>
            <a:chOff x="457200" y="0"/>
            <a:chExt cx="1447800" cy="285900"/>
          </a:xfrm>
        </p:grpSpPr>
        <p:sp>
          <p:nvSpPr>
            <p:cNvPr id="138" name="Google Shape;138;p16"/>
            <p:cNvSpPr/>
            <p:nvPr/>
          </p:nvSpPr>
          <p:spPr>
            <a:xfrm>
              <a:off x="457200" y="0"/>
              <a:ext cx="1447800" cy="285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02632" y="120000"/>
                  </a:lnTo>
                  <a:lnTo>
                    <a:pt x="17368" y="120000"/>
                  </a:lnTo>
                  <a:close/>
                </a:path>
              </a:pathLst>
            </a:custGeom>
            <a:solidFill>
              <a:srgbClr val="2250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666750" y="5715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4. NAMED OWNER</a:t>
              </a:r>
              <a:endParaRPr sz="980"/>
            </a:p>
          </p:txBody>
        </p:sp>
      </p:grpSp>
      <p:cxnSp>
        <p:nvCxnSpPr>
          <p:cNvPr id="140" name="Google Shape;140;p16"/>
          <p:cNvCxnSpPr/>
          <p:nvPr/>
        </p:nvCxnSpPr>
        <p:spPr>
          <a:xfrm>
            <a:off x="457200" y="46863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6"/>
          <p:cNvSpPr txBox="1"/>
          <p:nvPr/>
        </p:nvSpPr>
        <p:spPr>
          <a:xfrm>
            <a:off x="457200" y="4762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1A1F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Decarbonisation Collective</a:t>
            </a:r>
            <a:endParaRPr b="0" sz="900">
              <a:solidFill>
                <a:srgbClr val="1A1F2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7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pic>
          <p:nvPicPr>
            <p:cNvPr id="148" name="Google Shape;14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81113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66988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3852863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43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1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7"/>
          <p:cNvSpPr txBox="1"/>
          <p:nvPr/>
        </p:nvSpPr>
        <p:spPr>
          <a:xfrm>
            <a:off x="457200" y="2857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8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Achieving net-zero requires coordinated action</a:t>
            </a:r>
            <a:endParaRPr b="1" sz="2380">
              <a:solidFill>
                <a:srgbClr val="1A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2380">
                <a:solidFill>
                  <a:srgbClr val="1A1F24"/>
                </a:solidFill>
                <a:latin typeface="Inter"/>
                <a:ea typeface="Inter"/>
                <a:cs typeface="Inter"/>
                <a:sym typeface="Inter"/>
              </a:rPr>
              <a:t>across four key stakeholder levels.</a:t>
            </a:r>
            <a:endParaRPr b="1" sz="2380">
              <a:solidFill>
                <a:srgbClr val="1A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57200" y="1238250"/>
            <a:ext cx="8229600" cy="333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7"/>
          <p:cNvGrpSpPr/>
          <p:nvPr/>
        </p:nvGrpSpPr>
        <p:grpSpPr>
          <a:xfrm>
            <a:off x="457200" y="1266825"/>
            <a:ext cx="8229600" cy="3276600"/>
            <a:chOff x="0" y="0"/>
            <a:chExt cx="8229600" cy="327660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0" y="0"/>
              <a:ext cx="4000500" cy="1524000"/>
              <a:chOff x="0" y="0"/>
              <a:chExt cx="4000500" cy="1524000"/>
            </a:xfrm>
          </p:grpSpPr>
          <p:sp>
            <p:nvSpPr>
              <p:cNvPr id="157" name="Google Shape;157;p17"/>
              <p:cNvSpPr/>
              <p:nvPr/>
            </p:nvSpPr>
            <p:spPr>
              <a:xfrm>
                <a:off x="0" y="0"/>
                <a:ext cx="4000500" cy="1524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7"/>
              <p:cNvSpPr/>
              <p:nvPr/>
            </p:nvSpPr>
            <p:spPr>
              <a:xfrm>
                <a:off x="228600" y="228600"/>
                <a:ext cx="76200" cy="228600"/>
              </a:xfrm>
              <a:prstGeom prst="rect">
                <a:avLst/>
              </a:prstGeom>
              <a:solidFill>
                <a:srgbClr val="00A36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419100" y="228600"/>
                <a:ext cx="3352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6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Londoner (Homes)</a:t>
                </a:r>
                <a:endParaRPr b="0" sz="16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0" name="Google Shape;160;p17"/>
              <p:cNvSpPr txBox="1"/>
              <p:nvPr/>
            </p:nvSpPr>
            <p:spPr>
              <a:xfrm>
                <a:off x="228600" y="609600"/>
                <a:ext cx="3543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2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Residents seeking to reduce household energy bills and adopt low-carbon heating solutions.</a:t>
                </a:r>
                <a:endParaRPr b="0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229100" y="0"/>
              <a:ext cx="4000500" cy="1524000"/>
              <a:chOff x="0" y="0"/>
              <a:chExt cx="4000500" cy="1524000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0" y="0"/>
                <a:ext cx="4000500" cy="1524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228600" y="228600"/>
                <a:ext cx="76200" cy="2286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419100" y="228600"/>
                <a:ext cx="3352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6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Corporation (Workplaces)</a:t>
                </a:r>
                <a:endParaRPr b="0" sz="16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228600" y="609600"/>
                <a:ext cx="3543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2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Businesses aiming to meet ESG targets and retrofit commercial office spaces.</a:t>
                </a:r>
                <a:endParaRPr b="0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0" y="1752600"/>
              <a:ext cx="4000500" cy="1524000"/>
              <a:chOff x="0" y="0"/>
              <a:chExt cx="4000500" cy="1524000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0" y="0"/>
                <a:ext cx="4000500" cy="1524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228600" y="228600"/>
                <a:ext cx="76200" cy="2286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419100" y="228600"/>
                <a:ext cx="3352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6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Councillor (</a:t>
                </a:r>
                <a:r>
                  <a:rPr lang="en" sz="16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Local Authority</a:t>
                </a:r>
                <a:r>
                  <a:rPr b="0" lang="en" sz="16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)</a:t>
                </a:r>
                <a:endParaRPr b="0" sz="16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0" name="Google Shape;170;p17"/>
              <p:cNvSpPr txBox="1"/>
              <p:nvPr/>
            </p:nvSpPr>
            <p:spPr>
              <a:xfrm>
                <a:off x="228600" y="609600"/>
                <a:ext cx="3543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2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Local representatives designing targeted neighborhood interventions and managing local budgets.</a:t>
                </a:r>
                <a:endParaRPr b="0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4229100" y="1752600"/>
              <a:ext cx="4000500" cy="1524000"/>
              <a:chOff x="0" y="0"/>
              <a:chExt cx="4000500" cy="1524000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0" y="0"/>
                <a:ext cx="4000500" cy="1524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228600" y="228600"/>
                <a:ext cx="76200" cy="228600"/>
              </a:xfrm>
              <a:prstGeom prst="rect">
                <a:avLst/>
              </a:prstGeom>
              <a:solidFill>
                <a:srgbClr val="1A1F2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419100" y="228600"/>
                <a:ext cx="3352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6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GLA (City-wide)</a:t>
                </a:r>
                <a:endParaRPr b="0" sz="16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5" name="Google Shape;175;p17"/>
              <p:cNvSpPr txBox="1"/>
              <p:nvPr/>
            </p:nvSpPr>
            <p:spPr>
              <a:xfrm>
                <a:off x="228600" y="609600"/>
                <a:ext cx="3543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2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City Hall setting strategic London-wide policies and tracking overall net-zero progress.</a:t>
                </a:r>
                <a:endParaRPr b="0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176" name="Google Shape;176;p17"/>
          <p:cNvCxnSpPr/>
          <p:nvPr/>
        </p:nvCxnSpPr>
        <p:spPr>
          <a:xfrm>
            <a:off x="457200" y="46863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7"/>
          <p:cNvSpPr txBox="1"/>
          <p:nvPr/>
        </p:nvSpPr>
        <p:spPr>
          <a:xfrm>
            <a:off x="457200" y="47625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A1F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Decarbonisation Collective</a:t>
            </a:r>
            <a:endParaRPr b="0" sz="1200">
              <a:solidFill>
                <a:srgbClr val="1A1F2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8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grpSp>
          <p:nvGrpSpPr>
            <p:cNvPr id="183" name="Google Shape;183;p18"/>
            <p:cNvGrpSpPr/>
            <p:nvPr/>
          </p:nvGrpSpPr>
          <p:grpSpPr>
            <a:xfrm>
              <a:off x="0" y="0"/>
              <a:ext cx="9105900" cy="5143500"/>
              <a:chOff x="0" y="0"/>
              <a:chExt cx="9105900" cy="5143500"/>
            </a:xfrm>
          </p:grpSpPr>
          <p:pic>
            <p:nvPicPr>
              <p:cNvPr id="184" name="Google Shape;184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281113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2566988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" name="Google Shape;186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3852863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" name="Google Shape;187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3238" y="0"/>
                <a:ext cx="9600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" name="Google Shape;188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091238" y="0"/>
                <a:ext cx="9600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9" name="Google Shape;189;p18"/>
            <p:cNvGrpSpPr/>
            <p:nvPr/>
          </p:nvGrpSpPr>
          <p:grpSpPr>
            <a:xfrm>
              <a:off x="457200" y="457200"/>
              <a:ext cx="3238500" cy="324000"/>
              <a:chOff x="0" y="0"/>
              <a:chExt cx="3238500" cy="324000"/>
            </a:xfrm>
          </p:grpSpPr>
          <p:sp>
            <p:nvSpPr>
              <p:cNvPr id="190" name="Google Shape;190;p18"/>
              <p:cNvSpPr/>
              <p:nvPr/>
            </p:nvSpPr>
            <p:spPr>
              <a:xfrm>
                <a:off x="0" y="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cubicBezTo>
                      <a:pt x="0" y="26861"/>
                      <a:pt x="26861" y="0"/>
                      <a:pt x="60000" y="0"/>
                    </a:cubicBezTo>
                    <a:cubicBezTo>
                      <a:pt x="93139" y="0"/>
                      <a:pt x="120000" y="26861"/>
                      <a:pt x="120000" y="60000"/>
                    </a:cubicBezTo>
                    <a:cubicBezTo>
                      <a:pt x="120000" y="93139"/>
                      <a:pt x="93139" y="120000"/>
                      <a:pt x="60000" y="120000"/>
                    </a:cubicBezTo>
                    <a:cubicBezTo>
                      <a:pt x="26861" y="120000"/>
                      <a:pt x="0" y="93139"/>
                      <a:pt x="0" y="60000"/>
                    </a:cubicBezTo>
                    <a:close/>
                  </a:path>
                </a:pathLst>
              </a:custGeom>
              <a:solidFill>
                <a:srgbClr val="00A36C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>
                <a:off x="38100" y="38100"/>
                <a:ext cx="228600" cy="228600"/>
              </a:xfrm>
              <a:custGeom>
                <a:rect b="b" l="l" r="r" t="t"/>
                <a:pathLst>
                  <a:path extrusionOk="0" fill="none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FFFFFF"/>
              </a:solidFill>
              <a:ln cap="flat" cmpd="sng" w="19050">
                <a:solidFill>
                  <a:srgbClr val="00A36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8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8"/>
              <p:cNvSpPr/>
              <p:nvPr/>
            </p:nvSpPr>
            <p:spPr>
              <a:xfrm>
                <a:off x="47625" y="4762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94" name="Google Shape;194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00025" y="20002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" name="Google Shape;195;p18"/>
              <p:cNvSpPr txBox="1"/>
              <p:nvPr/>
            </p:nvSpPr>
            <p:spPr>
              <a:xfrm>
                <a:off x="381000" y="38100"/>
                <a:ext cx="2857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Decarbonisation Collective</a:t>
                </a:r>
                <a:endParaRPr b="0" sz="12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cxnSp>
        <p:nvCxnSpPr>
          <p:cNvPr id="196" name="Google Shape;196;p18"/>
          <p:cNvCxnSpPr/>
          <p:nvPr/>
        </p:nvCxnSpPr>
        <p:spPr>
          <a:xfrm>
            <a:off x="4572000" y="2762250"/>
            <a:ext cx="0" cy="1714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7" name="Google Shape;197;p18" title="funnel_concep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8035" y="0"/>
            <a:ext cx="742793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9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0" y="0"/>
              <a:ext cx="9105900" cy="5143500"/>
              <a:chOff x="0" y="0"/>
              <a:chExt cx="9105900" cy="5143500"/>
            </a:xfrm>
          </p:grpSpPr>
          <p:pic>
            <p:nvPicPr>
              <p:cNvPr id="204" name="Google Shape;20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281113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5" name="Google Shape;205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2566988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6" name="Google Shape;206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3852863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" name="Google Shape;20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3238" y="0"/>
                <a:ext cx="9600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091238" y="0"/>
                <a:ext cx="9600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9" name="Google Shape;209;p19"/>
            <p:cNvGrpSpPr/>
            <p:nvPr/>
          </p:nvGrpSpPr>
          <p:grpSpPr>
            <a:xfrm>
              <a:off x="457200" y="457200"/>
              <a:ext cx="3238500" cy="324000"/>
              <a:chOff x="0" y="0"/>
              <a:chExt cx="3238500" cy="324000"/>
            </a:xfrm>
          </p:grpSpPr>
          <p:sp>
            <p:nvSpPr>
              <p:cNvPr id="210" name="Google Shape;210;p19"/>
              <p:cNvSpPr/>
              <p:nvPr/>
            </p:nvSpPr>
            <p:spPr>
              <a:xfrm>
                <a:off x="0" y="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cubicBezTo>
                      <a:pt x="0" y="26861"/>
                      <a:pt x="26861" y="0"/>
                      <a:pt x="60000" y="0"/>
                    </a:cubicBezTo>
                    <a:cubicBezTo>
                      <a:pt x="93139" y="0"/>
                      <a:pt x="120000" y="26861"/>
                      <a:pt x="120000" y="60000"/>
                    </a:cubicBezTo>
                    <a:cubicBezTo>
                      <a:pt x="120000" y="93139"/>
                      <a:pt x="93139" y="120000"/>
                      <a:pt x="60000" y="120000"/>
                    </a:cubicBezTo>
                    <a:cubicBezTo>
                      <a:pt x="26861" y="120000"/>
                      <a:pt x="0" y="93139"/>
                      <a:pt x="0" y="60000"/>
                    </a:cubicBezTo>
                    <a:close/>
                  </a:path>
                </a:pathLst>
              </a:custGeom>
              <a:solidFill>
                <a:srgbClr val="00A36C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9"/>
              <p:cNvSpPr/>
              <p:nvPr/>
            </p:nvSpPr>
            <p:spPr>
              <a:xfrm>
                <a:off x="38100" y="38100"/>
                <a:ext cx="228600" cy="228600"/>
              </a:xfrm>
              <a:custGeom>
                <a:rect b="b" l="l" r="r" t="t"/>
                <a:pathLst>
                  <a:path extrusionOk="0" fill="none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FFFFFF"/>
              </a:solidFill>
              <a:ln cap="flat" cmpd="sng" w="19050">
                <a:solidFill>
                  <a:srgbClr val="00A36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9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>
                <a:off x="47625" y="4762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4" name="Google Shape;214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00025" y="20002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" name="Google Shape;215;p19"/>
              <p:cNvSpPr txBox="1"/>
              <p:nvPr/>
            </p:nvSpPr>
            <p:spPr>
              <a:xfrm>
                <a:off x="381000" y="38100"/>
                <a:ext cx="2857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Decarbonisation Collective</a:t>
                </a:r>
                <a:endParaRPr b="0" sz="12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cxnSp>
        <p:nvCxnSpPr>
          <p:cNvPr id="216" name="Google Shape;216;p19"/>
          <p:cNvCxnSpPr/>
          <p:nvPr/>
        </p:nvCxnSpPr>
        <p:spPr>
          <a:xfrm>
            <a:off x="4572000" y="2762250"/>
            <a:ext cx="0" cy="1714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7" name="Google Shape;217;p19" title="decision_tre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549176"/>
            <a:ext cx="9144003" cy="40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0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grpSp>
          <p:nvGrpSpPr>
            <p:cNvPr id="223" name="Google Shape;223;p20"/>
            <p:cNvGrpSpPr/>
            <p:nvPr/>
          </p:nvGrpSpPr>
          <p:grpSpPr>
            <a:xfrm>
              <a:off x="0" y="0"/>
              <a:ext cx="9105900" cy="5143500"/>
              <a:chOff x="0" y="0"/>
              <a:chExt cx="9105900" cy="5143500"/>
            </a:xfrm>
          </p:grpSpPr>
          <p:pic>
            <p:nvPicPr>
              <p:cNvPr id="224" name="Google Shape;224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281113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5" name="Google Shape;225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2566988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6" name="Google Shape;226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3852863"/>
                <a:ext cx="9105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3238" y="0"/>
                <a:ext cx="9600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091238" y="0"/>
                <a:ext cx="9600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9" name="Google Shape;229;p20"/>
            <p:cNvGrpSpPr/>
            <p:nvPr/>
          </p:nvGrpSpPr>
          <p:grpSpPr>
            <a:xfrm>
              <a:off x="457200" y="457200"/>
              <a:ext cx="3238500" cy="324000"/>
              <a:chOff x="0" y="0"/>
              <a:chExt cx="3238500" cy="324000"/>
            </a:xfrm>
          </p:grpSpPr>
          <p:sp>
            <p:nvSpPr>
              <p:cNvPr id="230" name="Google Shape;230;p20"/>
              <p:cNvSpPr/>
              <p:nvPr/>
            </p:nvSpPr>
            <p:spPr>
              <a:xfrm>
                <a:off x="0" y="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cubicBezTo>
                      <a:pt x="0" y="26861"/>
                      <a:pt x="26861" y="0"/>
                      <a:pt x="60000" y="0"/>
                    </a:cubicBezTo>
                    <a:cubicBezTo>
                      <a:pt x="93139" y="0"/>
                      <a:pt x="120000" y="26861"/>
                      <a:pt x="120000" y="60000"/>
                    </a:cubicBezTo>
                    <a:cubicBezTo>
                      <a:pt x="120000" y="93139"/>
                      <a:pt x="93139" y="120000"/>
                      <a:pt x="60000" y="120000"/>
                    </a:cubicBezTo>
                    <a:cubicBezTo>
                      <a:pt x="26861" y="120000"/>
                      <a:pt x="0" y="93139"/>
                      <a:pt x="0" y="60000"/>
                    </a:cubicBezTo>
                    <a:close/>
                  </a:path>
                </a:pathLst>
              </a:custGeom>
              <a:solidFill>
                <a:srgbClr val="00A36C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>
                <a:off x="38100" y="38100"/>
                <a:ext cx="228600" cy="228600"/>
              </a:xfrm>
              <a:custGeom>
                <a:rect b="b" l="l" r="r" t="t"/>
                <a:pathLst>
                  <a:path extrusionOk="0" fill="none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FFFFFF"/>
              </a:solidFill>
              <a:ln cap="flat" cmpd="sng" w="19050">
                <a:solidFill>
                  <a:srgbClr val="00A36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0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0"/>
              <p:cNvSpPr/>
              <p:nvPr/>
            </p:nvSpPr>
            <p:spPr>
              <a:xfrm>
                <a:off x="47625" y="4762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34" name="Google Shape;234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00025" y="20002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20"/>
              <p:cNvSpPr txBox="1"/>
              <p:nvPr/>
            </p:nvSpPr>
            <p:spPr>
              <a:xfrm>
                <a:off x="381000" y="38100"/>
                <a:ext cx="2857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A1F2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Decarbonisation Collective</a:t>
                </a:r>
                <a:endParaRPr b="0" sz="1200">
                  <a:solidFill>
                    <a:srgbClr val="1A1F2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36" name="Google Shape;236;p20"/>
          <p:cNvGrpSpPr/>
          <p:nvPr/>
        </p:nvGrpSpPr>
        <p:grpSpPr>
          <a:xfrm>
            <a:off x="457200" y="1143000"/>
            <a:ext cx="8229600" cy="1238400"/>
            <a:chOff x="0" y="0"/>
            <a:chExt cx="8229600" cy="1238400"/>
          </a:xfrm>
        </p:grpSpPr>
        <p:sp>
          <p:nvSpPr>
            <p:cNvPr id="237" name="Google Shape;237;p20"/>
            <p:cNvSpPr/>
            <p:nvPr/>
          </p:nvSpPr>
          <p:spPr>
            <a:xfrm>
              <a:off x="0" y="0"/>
              <a:ext cx="8229600" cy="1238400"/>
            </a:xfrm>
            <a:prstGeom prst="rect">
              <a:avLst/>
            </a:prstGeom>
            <a:solidFill>
              <a:srgbClr val="1A1F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0" y="0"/>
              <a:ext cx="76200" cy="12384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381000" y="0"/>
              <a:ext cx="7467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i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"Data-driven collaboration is the key to unlocking London's net-zero future."</a:t>
              </a:r>
              <a:endParaRPr b="0" i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40" name="Google Shape;240;p20"/>
          <p:cNvCxnSpPr/>
          <p:nvPr/>
        </p:nvCxnSpPr>
        <p:spPr>
          <a:xfrm>
            <a:off x="4572000" y="2762250"/>
            <a:ext cx="0" cy="1714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