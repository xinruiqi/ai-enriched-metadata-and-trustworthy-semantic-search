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Quattrocen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4ra2OS1fijMq4YkJA2ouPtay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BDFAD5-9979-465C-9F52-A365A3CD9034}">
  <a:tblStyle styleId="{D6BDFAD5-9979-465C-9F52-A365A3CD903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11" Type="http://schemas.openxmlformats.org/officeDocument/2006/relationships/slide" Target="slides/slide4.xml"/><Relationship Id="rId22" Type="http://customschemas.google.com/relationships/presentationmetadata" Target="metadata"/><Relationship Id="rId10" Type="http://schemas.openxmlformats.org/officeDocument/2006/relationships/slide" Target="slides/slide3.xml"/><Relationship Id="rId21" Type="http://schemas.openxmlformats.org/officeDocument/2006/relationships/font" Target="fonts/Quattrocento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QuattrocentoSans-bold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Quattrocento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We want to solve a data quality and targeting problem, not just a modelling one.</a:t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Kent and Ashford (outside of London) because it’s one of the close towns to London and it’s a good retrofit candidate because they have old houses.</a:t>
            </a:r>
            <a:br>
              <a:rPr lang="en-GB"/>
            </a:br>
            <a:br>
              <a:rPr lang="en-GB"/>
            </a:br>
            <a:r>
              <a:rPr b="1" lang="en-GB">
                <a:solidFill>
                  <a:schemeClr val="dk1"/>
                </a:solidFill>
              </a:rPr>
              <a:t>1. </a:t>
            </a:r>
            <a:r>
              <a:rPr lang="en-GB">
                <a:solidFill>
                  <a:schemeClr val="dk1"/>
                </a:solidFill>
              </a:rPr>
              <a:t>Ashford has a </a:t>
            </a:r>
            <a:r>
              <a:rPr b="1" lang="en-GB">
                <a:solidFill>
                  <a:schemeClr val="dk1"/>
                </a:solidFill>
              </a:rPr>
              <a:t>substantial proportion of older housing</a:t>
            </a:r>
            <a:r>
              <a:rPr lang="en-GB">
                <a:solidFill>
                  <a:schemeClr val="dk1"/>
                </a:solidFill>
              </a:rPr>
              <a:t> (a mix of Victorian terraces in the town centre and postwar estates): older solid-wall construction is typically the least energy-efficient and most improvable.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GB">
                <a:solidFill>
                  <a:schemeClr val="dk1"/>
                </a:solidFill>
              </a:rPr>
              <a:t>2. A genuine out-of-London comparator, not a random one</a:t>
            </a:r>
            <a:r>
              <a:rPr lang="en-GB">
                <a:solidFill>
                  <a:schemeClr val="dk1"/>
                </a:solidFill>
              </a:rPr>
              <a:t> — Ashford is one of the closest towns to London with strong commuter links (roughly 40 minutes by high-speed rail to St Pancras), so it's a fair "edge case" for testing whether a London-trained model generalises: similar commuter demographics and housing pressures to outer London, but built and administered entirely outside the GLA's data and policy remit.</a:t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Daniel can include: skore report highlights</a:t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This is the single strongest evidence slide. Say plainly: naive accuracy hid a broken model. Fixing it is the vouch-for-it moment.</a:t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This is the insight that separates us from a clean-demo team. A national social-housing-first policy would misallocate in Barking &amp; Dagenham specifically.</a:t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This is the direct answer to the GLA's own takeaway question. Say it almost verbatim: 'here's what a council officer does differently tomorrow.'</a:t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Naming these ourselves, unprompted, is the strongest possible signal that we can be trusted with this data.</a:t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Close on their own three prompts: scale, tractability, and — bridge back — equity. End with confidence, not a trailing caveat.</a:t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>
            <a:off x="541749" y="2180035"/>
            <a:ext cx="58296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29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" type="body"/>
          </p:nvPr>
        </p:nvSpPr>
        <p:spPr>
          <a:xfrm>
            <a:off x="342909" y="1151335"/>
            <a:ext cx="303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30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30"/>
          <p:cNvSpPr txBox="1"/>
          <p:nvPr>
            <p:ph idx="3" type="body"/>
          </p:nvPr>
        </p:nvSpPr>
        <p:spPr>
          <a:xfrm>
            <a:off x="3483862" y="1151335"/>
            <a:ext cx="3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30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3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3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/>
          <p:nvPr>
            <p:ph type="title"/>
          </p:nvPr>
        </p:nvSpPr>
        <p:spPr>
          <a:xfrm>
            <a:off x="342909" y="204788"/>
            <a:ext cx="22563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32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4" name="Google Shape;104;p3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3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33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3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1" name="Google Shape;111;p3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4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34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3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3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0" y="4992624"/>
            <a:ext cx="9144000" cy="150900"/>
          </a:xfrm>
          <a:prstGeom prst="rect">
            <a:avLst/>
          </a:prstGeom>
          <a:solidFill>
            <a:srgbClr val="9E00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8607019" y="0"/>
            <a:ext cx="82500" cy="1783200"/>
          </a:xfrm>
          <a:prstGeom prst="rect">
            <a:avLst/>
          </a:prstGeom>
          <a:solidFill>
            <a:srgbClr val="9E00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8771616" y="0"/>
            <a:ext cx="82500" cy="1783200"/>
          </a:xfrm>
          <a:prstGeom prst="rect">
            <a:avLst/>
          </a:prstGeom>
          <a:solidFill>
            <a:srgbClr val="00A8C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8936212" y="0"/>
            <a:ext cx="82500" cy="1783200"/>
          </a:xfrm>
          <a:prstGeom prst="rect">
            <a:avLst/>
          </a:prstGeom>
          <a:solidFill>
            <a:srgbClr val="3D4A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617236" y="1474470"/>
            <a:ext cx="7201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A8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MAYOR OF LONDON  ·  GREATER LONDON AUTHORITY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617236" y="1783080"/>
            <a:ext cx="7887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GB" sz="4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London Data Week Hackathon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617236" y="2846070"/>
            <a:ext cx="699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C9D1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data to identify decarbonisation opportunities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617236" y="4354830"/>
            <a:ext cx="685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dfl.london.gov.uk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/>
        </p:nvSpPr>
        <p:spPr>
          <a:xfrm>
            <a:off x="480073" y="308610"/>
            <a:ext cx="816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9E00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80073" y="582930"/>
            <a:ext cx="81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0F1A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London’s buildings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80073" y="1200150"/>
            <a:ext cx="1028700" cy="33300"/>
          </a:xfrm>
          <a:prstGeom prst="rect">
            <a:avLst/>
          </a:prstGeom>
          <a:solidFill>
            <a:srgbClr val="9E00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491399" y="1721250"/>
            <a:ext cx="81612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0F1A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60%+ of emissions</a:t>
            </a:r>
            <a:endParaRPr b="1" i="0" sz="3600" u="none" cap="none" strike="noStrike">
              <a:solidFill>
                <a:srgbClr val="0F1A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0F1A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 37% cut in domestic heat demand </a:t>
            </a:r>
            <a:endParaRPr b="1" i="0" sz="3600" u="none" cap="none" strike="noStrike">
              <a:solidFill>
                <a:srgbClr val="0F1A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F1A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2228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to 50% of past retrofit specs were wrong once properly surveyed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480073" y="4834890"/>
            <a:ext cx="4114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B7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for London  ·  dfl.london.gov.uk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8435565" y="4834890"/>
            <a:ext cx="41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B7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3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0" y="0"/>
            <a:ext cx="150900" cy="5143500"/>
          </a:xfrm>
          <a:prstGeom prst="rect">
            <a:avLst/>
          </a:prstGeom>
          <a:solidFill>
            <a:srgbClr val="9E00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617236" y="480060"/>
            <a:ext cx="7544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A8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WE BUILT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617236" y="788670"/>
            <a:ext cx="788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RetrofHEAT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617236" y="1611630"/>
            <a:ext cx="781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C9D1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tested our approach on four residential case-study buildings, two in London and two outside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17225" y="2811775"/>
            <a:ext cx="2537700" cy="1969500"/>
          </a:xfrm>
          <a:prstGeom prst="roundRect">
            <a:avLst>
              <a:gd fmla="val 6000" name="adj"/>
            </a:avLst>
          </a:prstGeom>
          <a:solidFill>
            <a:srgbClr val="1B28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17236" y="2811779"/>
            <a:ext cx="2537700" cy="48000"/>
          </a:xfrm>
          <a:prstGeom prst="rect">
            <a:avLst/>
          </a:prstGeom>
          <a:solidFill>
            <a:srgbClr val="00A8C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5763600" y="2811775"/>
            <a:ext cx="2537700" cy="1969500"/>
          </a:xfrm>
          <a:prstGeom prst="roundRect">
            <a:avLst>
              <a:gd fmla="val 6000" name="adj"/>
            </a:avLst>
          </a:prstGeom>
          <a:solidFill>
            <a:srgbClr val="1B28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5763610" y="2811779"/>
            <a:ext cx="2537700" cy="48000"/>
          </a:xfrm>
          <a:prstGeom prst="rect">
            <a:avLst/>
          </a:prstGeom>
          <a:solidFill>
            <a:srgbClr val="00A8C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795557" y="3567745"/>
            <a:ext cx="2126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Tower Hamlets and </a:t>
            </a:r>
            <a:br>
              <a:rPr b="1" i="0" lang="en-GB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GB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Barking &amp; Dagenham</a:t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ADB6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Inside of London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795505" y="3035595"/>
            <a:ext cx="21261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Kent and Ashford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ADB6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Outside of London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5969407" y="3061245"/>
            <a:ext cx="212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Older housing</a:t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ADB6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Biggest retrofit upside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5969407" y="3647620"/>
            <a:ext cx="21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Close to London</a:t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ADB6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Similar demographics, but outside of GLA’s data policy remit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3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0" y="4992624"/>
            <a:ext cx="9144000" cy="150900"/>
          </a:xfrm>
          <a:prstGeom prst="rect">
            <a:avLst/>
          </a:prstGeom>
          <a:solidFill>
            <a:srgbClr val="9E00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617236" y="1714500"/>
            <a:ext cx="78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 we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3000" u="none" cap="none" strike="noStrike">
                <a:solidFill>
                  <a:srgbClr val="00A8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vouch </a:t>
            </a:r>
            <a:r>
              <a:rPr b="1" i="0" lang="en-GB" sz="3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it?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17236" y="2624080"/>
            <a:ext cx="754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model got right</a:t>
            </a:r>
            <a:endParaRPr b="0" i="0" sz="1300" u="none" cap="none" strike="noStrik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we evaluated it </a:t>
            </a:r>
            <a:endParaRPr b="0" i="0" sz="1300" u="none" cap="none" strike="noStrik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Caveats (areas of weaknesses; what could still go wrong)</a:t>
            </a:r>
            <a:endParaRPr b="0" i="0" sz="1300" u="none" cap="none" strike="noStrik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617236" y="3840480"/>
            <a:ext cx="754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skore report highlights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17236" y="4457700"/>
            <a:ext cx="754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6B7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Mayor of London  ·  Greater London Authority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411480" y="308610"/>
            <a:ext cx="6172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Can We Vouch For It?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11480" y="720090"/>
            <a:ext cx="6172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Evaluated with skore — not just trained, tested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11480" y="1303020"/>
            <a:ext cx="3840600" cy="2846100"/>
          </a:xfrm>
          <a:prstGeom prst="roundRect">
            <a:avLst>
              <a:gd fmla="val 2892" name="adj"/>
            </a:avLst>
          </a:prstGeom>
          <a:solidFill>
            <a:srgbClr val="2637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17220" y="1474470"/>
            <a:ext cx="3429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E9E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9E9E"/>
                </a:solidFill>
                <a:latin typeface="Cambria"/>
                <a:ea typeface="Cambria"/>
                <a:cs typeface="Cambria"/>
                <a:sym typeface="Cambria"/>
              </a:rPr>
              <a:t>Naive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17220" y="1885950"/>
            <a:ext cx="3429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93% accuracy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2000"/>
              <a:buFont typeface="Calibri"/>
              <a:buNone/>
            </a:pPr>
            <a:r>
              <a:rPr b="0" i="1" lang="en-GB" sz="20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looked great...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E9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F9E9E"/>
                </a:solidFill>
                <a:latin typeface="Calibri"/>
                <a:ea typeface="Calibri"/>
                <a:cs typeface="Calibri"/>
                <a:sym typeface="Calibri"/>
              </a:rPr>
              <a:t>...but missed 99% of buildings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E9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F9E9E"/>
                </a:solidFill>
                <a:latin typeface="Calibri"/>
                <a:ea typeface="Calibri"/>
                <a:cs typeface="Calibri"/>
                <a:sym typeface="Calibri"/>
              </a:rPr>
              <a:t>that actually needed retrofit.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491990" y="1303020"/>
            <a:ext cx="3840600" cy="2846100"/>
          </a:xfrm>
          <a:prstGeom prst="roundRect">
            <a:avLst>
              <a:gd fmla="val 2892" name="adj"/>
            </a:avLst>
          </a:prstGeom>
          <a:solidFill>
            <a:srgbClr val="0F6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697730" y="1474470"/>
            <a:ext cx="3429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FFF4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D9FFF4"/>
                </a:solidFill>
                <a:latin typeface="Cambria"/>
                <a:ea typeface="Cambria"/>
                <a:cs typeface="Cambria"/>
                <a:sym typeface="Cambria"/>
              </a:rPr>
              <a:t>Corrected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697730" y="1885950"/>
            <a:ext cx="3429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84% accuracy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FFF4"/>
              </a:buClr>
              <a:buSzPts val="2000"/>
              <a:buFont typeface="Calibri"/>
              <a:buNone/>
            </a:pPr>
            <a:r>
              <a:rPr b="0" i="1" lang="en-GB" sz="2000" u="none" cap="none" strike="noStrike">
                <a:solidFill>
                  <a:srgbClr val="D9FFF4"/>
                </a:solidFill>
                <a:latin typeface="Calibri"/>
                <a:ea typeface="Calibri"/>
                <a:cs typeface="Calibri"/>
                <a:sym typeface="Calibri"/>
              </a:rPr>
              <a:t>class-weighted for imbalance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...now catches 64% of buildings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 actually need retrofit.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11480" y="4251960"/>
            <a:ext cx="829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ROC AUC 0.86  ·  Precision–Recall used as primary metric (target is imbalanced: ~6% of buildings are non-compliant)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>
          <a:xfrm>
            <a:off x="411480" y="308610"/>
            <a:ext cx="822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Key Insight: Not a One-Size-Fits-All Answer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11480" y="75438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We tested the assumption that social housing always has the highest retrofit need. It doesn't.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68730"/>
            <a:ext cx="54864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6103620" y="1268730"/>
            <a:ext cx="2606100" cy="3086100"/>
          </a:xfrm>
          <a:prstGeom prst="roundRect">
            <a:avLst>
              <a:gd fmla="val 3158" name="adj"/>
            </a:avLst>
          </a:prstGeom>
          <a:solidFill>
            <a:srgbClr val="1B2A4A"/>
          </a:solidFill>
          <a:ln>
            <a:noFill/>
          </a:ln>
          <a:effectLst>
            <a:outerShdw blurRad="76200" rotWithShape="0" algn="bl" dir="5400000" dist="190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309360" y="1474470"/>
            <a:ext cx="219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Tower Hamlets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housing has the highest need (26.2%)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-GB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Barking &amp; Dagenham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housing has the LOWEST need (47.5%) — owner-occupied is highest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-GB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Ashford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tenures cluster within 2 points of each other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411480" y="308610"/>
            <a:ext cx="6172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From Insight to Action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11480" y="720090"/>
            <a:ext cx="7200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If a council officer used this list tomorrow, here's where they'd start.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7"/>
          <p:cNvGraphicFramePr/>
          <p:nvPr/>
        </p:nvGraphicFramePr>
        <p:xfrm>
          <a:off x="41148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{D6BDFAD5-9979-465C-9F52-A365A3CD9034}</a:tableStyleId>
              </a:tblPr>
              <a:tblGrid>
                <a:gridCol w="1783100"/>
                <a:gridCol w="1988825"/>
                <a:gridCol w="12344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 housing needing retrofit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IMD decile (1=most deprived)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Alibon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6B7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0F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Longbridge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6B7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0F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Becontree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6B7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0F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F0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7"/>
          <p:cNvSpPr/>
          <p:nvPr/>
        </p:nvSpPr>
        <p:spPr>
          <a:xfrm>
            <a:off x="411480" y="2743200"/>
            <a:ext cx="5006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All three wards: Barking and Dagenham — highest deprivation, highest social-housing retrofit need, all in one borough.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692140" y="1234440"/>
            <a:ext cx="3017400" cy="3360300"/>
          </a:xfrm>
          <a:prstGeom prst="roundRect">
            <a:avLst>
              <a:gd fmla="val 2727" name="adj"/>
            </a:avLst>
          </a:prstGeom>
          <a:solidFill>
            <a:srgbClr val="EFF1F0"/>
          </a:solidFill>
          <a:ln>
            <a:noFill/>
          </a:ln>
          <a:effectLst>
            <a:outerShdw blurRad="762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0" y="14058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6343650" y="1405890"/>
            <a:ext cx="226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i="0" lang="en-GB" sz="1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What changes tomorrow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897880" y="1885950"/>
            <a:ext cx="26403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3 named wards to survey first — not 32 boroughs to figure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Retrofit spend targets deprivation and emissions at once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Tenure-blind policy avoided — Barking &amp; Dagenham needs an owner-occupied focus, not social-housing-first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411480" y="308610"/>
            <a:ext cx="6172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Caveats — Stated Plainly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11480" y="1165860"/>
            <a:ext cx="8298300" cy="10287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" y="14058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1131570" y="1289304"/>
            <a:ext cx="73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Ashford is one convenience case, not a systematic sample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131570" y="1611630"/>
            <a:ext cx="7338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A single non-London town given today's time constraints — a real finding, but not yet a representative baseline.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11480" y="2331720"/>
            <a:ext cx="8298300" cy="10287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4" name="Google Shape;2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" y="25717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1131570" y="2455164"/>
            <a:ext cx="73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IMD or fuel-poverty data exists for Ashford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131570" y="2777490"/>
            <a:ext cx="7338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London has this pre-linked at building level (LBSM v2). Most of England outside London doesn't — a genuine national data-infrastructure gap, not our gap.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11480" y="3497580"/>
            <a:ext cx="8298300" cy="10287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" y="373761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1131570" y="3621024"/>
            <a:ext cx="73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Ward-level fuel poverty scores are dated (~2009–2010)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131570" y="3943350"/>
            <a:ext cx="7338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We cross-checked against DESNZ's current 2023 borough-level figures where possible, and used both together deliberately.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411480" y="342900"/>
            <a:ext cx="8229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Residential Prioritisation Matters Here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11480" y="1165860"/>
            <a:ext cx="2640300" cy="2537700"/>
          </a:xfrm>
          <a:prstGeom prst="roundRect">
            <a:avLst>
              <a:gd fmla="val 3243" name="adj"/>
            </a:avLst>
          </a:prstGeom>
          <a:solidFill>
            <a:srgbClr val="2637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457325" y="1405890"/>
            <a:ext cx="548400" cy="5484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769" y="152933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582930" y="2091690"/>
            <a:ext cx="229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17220" y="2434590"/>
            <a:ext cx="2229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3E0"/>
                </a:solidFill>
                <a:latin typeface="Calibri"/>
                <a:ea typeface="Calibri"/>
                <a:cs typeface="Calibri"/>
                <a:sym typeface="Calibri"/>
              </a:rPr>
              <a:t>Residential buildings are the largest, most tractable share of London's 37% heat-demand-reduction target.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291840" y="1165860"/>
            <a:ext cx="2640300" cy="2537700"/>
          </a:xfrm>
          <a:prstGeom prst="roundRect">
            <a:avLst>
              <a:gd fmla="val 3243" name="adj"/>
            </a:avLst>
          </a:prstGeom>
          <a:solidFill>
            <a:srgbClr val="2637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337685" y="1405890"/>
            <a:ext cx="548400" cy="5484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4" name="Google Shape;2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1129" y="152933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3463290" y="2091690"/>
            <a:ext cx="229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Equity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497580" y="2434590"/>
            <a:ext cx="2229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3E0"/>
                </a:solidFill>
                <a:latin typeface="Calibri"/>
                <a:ea typeface="Calibri"/>
                <a:cs typeface="Calibri"/>
                <a:sym typeface="Calibri"/>
              </a:rPr>
              <a:t>Retrofit targeting by deprivation decile serves decarbonisation and fairness simultaneously — not a trade-off.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172200" y="1165860"/>
            <a:ext cx="2640300" cy="2537700"/>
          </a:xfrm>
          <a:prstGeom prst="roundRect">
            <a:avLst>
              <a:gd fmla="val 3243" name="adj"/>
            </a:avLst>
          </a:prstGeom>
          <a:solidFill>
            <a:srgbClr val="2637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218045" y="1405890"/>
            <a:ext cx="548400" cy="5484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9" name="Google Shape;2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1489" y="152933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6343650" y="2091690"/>
            <a:ext cx="229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Tractability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377940" y="2434590"/>
            <a:ext cx="2229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3E0"/>
                </a:solidFill>
                <a:latin typeface="Calibri"/>
                <a:ea typeface="Calibri"/>
                <a:cs typeface="Calibri"/>
                <a:sym typeface="Calibri"/>
              </a:rPr>
              <a:t>Named wards, not abstract borough averages — a council officer can act on this list tomorrow.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11480" y="469773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0AE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8FA0AE"/>
                </a:solidFill>
                <a:latin typeface="Calibri"/>
                <a:ea typeface="Calibri"/>
                <a:cs typeface="Calibri"/>
                <a:sym typeface="Calibri"/>
              </a:rPr>
              <a:t>Data for London  ·  dfl.london.gov.uk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 txBox="1"/>
          <p:nvPr/>
        </p:nvSpPr>
        <p:spPr>
          <a:xfrm>
            <a:off x="480073" y="308610"/>
            <a:ext cx="816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9E00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TAKEAWAYS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480073" y="582930"/>
            <a:ext cx="81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0F1A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this matters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80073" y="1200150"/>
            <a:ext cx="1028700" cy="33300"/>
          </a:xfrm>
          <a:prstGeom prst="rect">
            <a:avLst/>
          </a:prstGeom>
          <a:solidFill>
            <a:srgbClr val="9E00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480073" y="1440180"/>
            <a:ext cx="43893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rgbClr val="9E00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a council officer used this list tomorrow, what would they do differently?</a:t>
            </a:r>
            <a:endParaRPr b="1" i="0" sz="1400" u="none" cap="none" strike="noStrike">
              <a:solidFill>
                <a:srgbClr val="9E00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2228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residential housing prioritisation matters here specifically (scale, tractability)</a:t>
            </a:r>
            <a:endParaRPr b="0" i="0" sz="1100" u="none" cap="none" strike="noStrike">
              <a:solidFill>
                <a:srgbClr val="22283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22283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212219" y="1474470"/>
            <a:ext cx="3429000" cy="891600"/>
          </a:xfrm>
          <a:prstGeom prst="roundRect">
            <a:avLst>
              <a:gd fmla="val 6000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212219" y="1474470"/>
            <a:ext cx="61800" cy="891600"/>
          </a:xfrm>
          <a:prstGeom prst="rect">
            <a:avLst/>
          </a:prstGeom>
          <a:solidFill>
            <a:srgbClr val="9E00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5452255" y="1584198"/>
            <a:ext cx="3086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F1A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residential housing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6B7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 data from across London quickly and easily, in one place.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212219" y="2503170"/>
            <a:ext cx="3429000" cy="891600"/>
          </a:xfrm>
          <a:prstGeom prst="roundRect">
            <a:avLst>
              <a:gd fmla="val 6000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212219" y="2503170"/>
            <a:ext cx="61800" cy="891600"/>
          </a:xfrm>
          <a:prstGeom prst="rect">
            <a:avLst/>
          </a:prstGeom>
          <a:solidFill>
            <a:srgbClr val="00A8C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5452255" y="2612898"/>
            <a:ext cx="3086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Open, transparent city data for services, research and policy.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212219" y="3531870"/>
            <a:ext cx="3429000" cy="891600"/>
          </a:xfrm>
          <a:prstGeom prst="roundRect">
            <a:avLst>
              <a:gd fmla="val 6000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5212219" y="3531870"/>
            <a:ext cx="61800" cy="891600"/>
          </a:xfrm>
          <a:prstGeom prst="rect">
            <a:avLst/>
          </a:prstGeom>
          <a:solidFill>
            <a:srgbClr val="0F1A3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5452255" y="3641598"/>
            <a:ext cx="3086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Legal, ethical and purposeful data sharing across the city.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480073" y="4834890"/>
            <a:ext cx="4114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B7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for London  ·  dfl.london.gov.uk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8435565" y="4834890"/>
            <a:ext cx="41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B7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