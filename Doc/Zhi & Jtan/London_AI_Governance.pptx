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RfUayM4kfczkM3xFNB6995to0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0" y="347472"/>
            <a:ext cx="12188952" cy="292608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FA8D4"/>
                </a:solidFill>
                <a:latin typeface="Arial"/>
                <a:ea typeface="Arial"/>
                <a:cs typeface="Arial"/>
                <a:sym typeface="Arial"/>
              </a:rPr>
              <a:t>Data for London Library  ›  Governance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48640" y="82296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173736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AI-powered audit and classification of the Data for London Library catalogue.</a:t>
            </a:r>
            <a:br>
              <a:rPr b="0" i="0" lang="en-US" sz="14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Enabling councils, universities, charities and public bodies to find, trust, and use London's data.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0058400" y="548640"/>
            <a:ext cx="1828800" cy="38404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076688" y="576072"/>
            <a:ext cx="1801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0" y="3273552"/>
            <a:ext cx="12188952" cy="36576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0" y="3310128"/>
            <a:ext cx="12188952" cy="2286000"/>
          </a:xfrm>
          <a:prstGeom prst="rect">
            <a:avLst/>
          </a:prstGeom>
          <a:solidFill>
            <a:srgbClr val="F3F2F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11480" y="3429000"/>
            <a:ext cx="26517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11480" y="3429000"/>
            <a:ext cx="45720" cy="109728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521208" y="35387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UNLICENSED DATASETS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521208" y="37216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21208" y="423367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No legal clarity for reuse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3246120" y="3429000"/>
            <a:ext cx="26517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3246120" y="3429000"/>
            <a:ext cx="45720" cy="109728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355848" y="35387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METADATA ONLY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3355848" y="37216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3355848" y="423367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No downloadable data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6080760" y="3429000"/>
            <a:ext cx="26517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080760" y="3429000"/>
            <a:ext cx="45720" cy="109728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6190488" y="35387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DEPRECATED LIVE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6190488" y="37216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47738"/>
                </a:solidFill>
                <a:latin typeface="Arial"/>
                <a:ea typeface="Arial"/>
                <a:cs typeface="Arial"/>
                <a:sym typeface="Arial"/>
              </a:rPr>
              <a:t>1,226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6190488" y="423367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Still in active search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8915400" y="3429000"/>
            <a:ext cx="265176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8915400" y="3429000"/>
            <a:ext cx="45720" cy="109728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9025128" y="35387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DUPLICATED DATASETS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9025128" y="37216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  <a:endParaRPr/>
          </a:p>
        </p:txBody>
      </p:sp>
      <p:sp>
        <p:nvSpPr>
          <p:cNvPr id="113" name="Google Shape;113;p1"/>
          <p:cNvSpPr txBox="1"/>
          <p:nvPr/>
        </p:nvSpPr>
        <p:spPr>
          <a:xfrm>
            <a:off x="9025128" y="423367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Near-duplicate entries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Probabl Hackathon 2026  ·  Open Data Track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London's open data catalogue is AI-unusable — and nobody knew how bad it was.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GOVERNANCE AUDIT</a:t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411480" y="2240279"/>
            <a:ext cx="1463040" cy="5486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484632" y="2313431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92.7%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2011680" y="2350007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of datasets have NO licence — legally unusable for AI or research</a:t>
            </a: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411480" y="2990087"/>
            <a:ext cx="1463040" cy="5486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484632" y="3063239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88.8%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2011680" y="3099815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are metadata-only — no actual downloadable data</a:t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411480" y="3739895"/>
            <a:ext cx="1463040" cy="5486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484632" y="3813047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1,226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2011680" y="3849623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deprecated datasets still live in active search results</a:t>
            </a:r>
            <a:endParaRPr/>
          </a:p>
        </p:txBody>
      </p:sp>
      <p:sp>
        <p:nvSpPr>
          <p:cNvPr id="143" name="Google Shape;143;p2"/>
          <p:cNvSpPr/>
          <p:nvPr/>
        </p:nvSpPr>
        <p:spPr>
          <a:xfrm>
            <a:off x="411480" y="4489703"/>
            <a:ext cx="1463040" cy="5486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84632" y="4562855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2011680" y="4599431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different file format strings — zero standardisation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411480" y="5239511"/>
            <a:ext cx="1463040" cy="5486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411449" y="5294375"/>
            <a:ext cx="146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borough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2011680" y="5349239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contributes 72.9% of the entire catalogue (Croydon)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Who Is Affected?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Every organisation that relies on London's public data is blocked.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STAKEHOLDERS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411480" y="2240279"/>
            <a:ext cx="539496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11480" y="2240279"/>
            <a:ext cx="45720" cy="105156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521208" y="233171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NHS Trust / Public Health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521208" y="2624327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Cannot identify which datasets are licensed for clinical use</a:t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6080760" y="2240279"/>
            <a:ext cx="539496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6080760" y="2240279"/>
            <a:ext cx="45720" cy="105156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6190488" y="233171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Borough Council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6190488" y="2624327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Cannot reuse another borough's data — legal ambiguity</a:t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411480" y="3474719"/>
            <a:ext cx="539496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411480" y="3474719"/>
            <a:ext cx="45720" cy="105156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521208" y="356615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University Researcher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521208" y="3858767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Spends months cleaning data that should take days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6080760" y="3474719"/>
            <a:ext cx="539496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6080760" y="3474719"/>
            <a:ext cx="45720" cy="105156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6190488" y="356615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Charity / Third Sector</a:t>
            </a:r>
            <a:endParaRPr/>
          </a:p>
        </p:txBody>
      </p:sp>
      <p:sp>
        <p:nvSpPr>
          <p:cNvPr id="181" name="Google Shape;181;p3"/>
          <p:cNvSpPr txBox="1"/>
          <p:nvPr/>
        </p:nvSpPr>
        <p:spPr>
          <a:xfrm>
            <a:off x="6190488" y="3858767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No technical capacity to navigate 55 format variants</a:t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411480" y="4709159"/>
            <a:ext cx="539496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411480" y="4709159"/>
            <a:ext cx="45720" cy="105156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21208" y="480059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Startup / Developer</a:t>
            </a:r>
            <a:endParaRPr/>
          </a:p>
        </p:txBody>
      </p:sp>
      <p:sp>
        <p:nvSpPr>
          <p:cNvPr id="185" name="Google Shape;185;p3"/>
          <p:cNvSpPr txBox="1"/>
          <p:nvPr/>
        </p:nvSpPr>
        <p:spPr>
          <a:xfrm>
            <a:off x="521208" y="5093207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Cannot build AI products on unlicensed, unstructured data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6080760" y="4709159"/>
            <a:ext cx="539496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6080760" y="4709159"/>
            <a:ext cx="45720" cy="105156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6190488" y="480059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Policy Analyst</a:t>
            </a:r>
            <a:endParaRPr/>
          </a:p>
        </p:txBody>
      </p:sp>
      <p:sp>
        <p:nvSpPr>
          <p:cNvPr id="189" name="Google Shape;189;p3"/>
          <p:cNvSpPr txBox="1"/>
          <p:nvPr/>
        </p:nvSpPr>
        <p:spPr>
          <a:xfrm>
            <a:off x="6190488" y="5093207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Cannot search by theme — keyword-only search returns noise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An AI governance layer that makes London's open data actually open.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2194560" y="2651759"/>
            <a:ext cx="109728" cy="73152"/>
          </a:xfrm>
          <a:prstGeom prst="rect">
            <a:avLst/>
          </a:prstGeom>
          <a:solidFill>
            <a:srgbClr val="B1B4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411480" y="2240279"/>
            <a:ext cx="178308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411480" y="2240279"/>
            <a:ext cx="178308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484632" y="227685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11" name="Google Shape;211;p4"/>
          <p:cNvSpPr txBox="1"/>
          <p:nvPr/>
        </p:nvSpPr>
        <p:spPr>
          <a:xfrm>
            <a:off x="868680" y="2295143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502920" y="2679191"/>
            <a:ext cx="161848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Load all 20,685 datasets from the DFL CKAN catalogue JSON</a:t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4087368" y="2651759"/>
            <a:ext cx="109728" cy="73152"/>
          </a:xfrm>
          <a:prstGeom prst="rect">
            <a:avLst/>
          </a:prstGeom>
          <a:solidFill>
            <a:srgbClr val="B1B4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2304288" y="2240279"/>
            <a:ext cx="178308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2304288" y="2240279"/>
            <a:ext cx="178308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2377440" y="227685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2761488" y="2295143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</a:t>
            </a:r>
            <a:endParaRPr/>
          </a:p>
        </p:txBody>
      </p:sp>
      <p:sp>
        <p:nvSpPr>
          <p:cNvPr id="218" name="Google Shape;218;p4"/>
          <p:cNvSpPr txBox="1"/>
          <p:nvPr/>
        </p:nvSpPr>
        <p:spPr>
          <a:xfrm>
            <a:off x="2395728" y="2679191"/>
            <a:ext cx="161848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Flag licence status, data availability, deprecated entries, format chaos</a:t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5980176" y="2651759"/>
            <a:ext cx="109728" cy="73152"/>
          </a:xfrm>
          <a:prstGeom prst="rect">
            <a:avLst/>
          </a:prstGeom>
          <a:solidFill>
            <a:srgbClr val="B1B4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197096" y="2240279"/>
            <a:ext cx="178308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4197096" y="2240279"/>
            <a:ext cx="178308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4270248" y="227685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4654296" y="2295143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endParaRPr/>
          </a:p>
        </p:txBody>
      </p:sp>
      <p:sp>
        <p:nvSpPr>
          <p:cNvPr id="224" name="Google Shape;224;p4"/>
          <p:cNvSpPr txBox="1"/>
          <p:nvPr/>
        </p:nvSpPr>
        <p:spPr>
          <a:xfrm>
            <a:off x="4288536" y="2679191"/>
            <a:ext cx="161848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AI assigns 14 user-intent categories per dataset (multi-label TF-IDF)</a:t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7872984" y="2651759"/>
            <a:ext cx="109728" cy="73152"/>
          </a:xfrm>
          <a:prstGeom prst="rect">
            <a:avLst/>
          </a:prstGeom>
          <a:solidFill>
            <a:srgbClr val="B1B4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6089904" y="2240279"/>
            <a:ext cx="178308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6089904" y="2240279"/>
            <a:ext cx="178308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6163056" y="227685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6547104" y="2295143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Type</a:t>
            </a:r>
            <a:endParaRPr/>
          </a:p>
        </p:txBody>
      </p:sp>
      <p:sp>
        <p:nvSpPr>
          <p:cNvPr id="230" name="Google Shape;230;p4"/>
          <p:cNvSpPr txBox="1"/>
          <p:nvPr/>
        </p:nvSpPr>
        <p:spPr>
          <a:xfrm>
            <a:off x="6181344" y="2679191"/>
            <a:ext cx="161848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AI classifies each publisher: Local Authority / Company / Academia / Charity</a:t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9765792" y="2651759"/>
            <a:ext cx="109728" cy="73152"/>
          </a:xfrm>
          <a:prstGeom prst="rect">
            <a:avLst/>
          </a:prstGeom>
          <a:solidFill>
            <a:srgbClr val="B1B4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7982712" y="2240279"/>
            <a:ext cx="178308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7982712" y="2240279"/>
            <a:ext cx="178308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8055864" y="227685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8439912" y="2295143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</p:txBody>
      </p:sp>
      <p:sp>
        <p:nvSpPr>
          <p:cNvPr id="236" name="Google Shape;236;p4"/>
          <p:cNvSpPr txBox="1"/>
          <p:nvPr/>
        </p:nvSpPr>
        <p:spPr>
          <a:xfrm>
            <a:off x="8074152" y="2679191"/>
            <a:ext cx="161848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5-fold cross-validation · Precision 0.92 · Recall 0.90 · F1 0.91</a:t>
            </a:r>
            <a:endParaRPr/>
          </a:p>
        </p:txBody>
      </p:sp>
      <p:sp>
        <p:nvSpPr>
          <p:cNvPr id="237" name="Google Shape;237;p4"/>
          <p:cNvSpPr/>
          <p:nvPr/>
        </p:nvSpPr>
        <p:spPr>
          <a:xfrm>
            <a:off x="9875520" y="2240279"/>
            <a:ext cx="178308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9875520" y="2240279"/>
            <a:ext cx="1783080" cy="347472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9948672" y="2276855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40" name="Google Shape;240;p4"/>
          <p:cNvSpPr txBox="1"/>
          <p:nvPr/>
        </p:nvSpPr>
        <p:spPr>
          <a:xfrm>
            <a:off x="10332720" y="2295143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</a:t>
            </a:r>
            <a:endParaRPr/>
          </a:p>
        </p:txBody>
      </p:sp>
      <p:sp>
        <p:nvSpPr>
          <p:cNvPr id="241" name="Google Shape;241;p4"/>
          <p:cNvSpPr txBox="1"/>
          <p:nvPr/>
        </p:nvSpPr>
        <p:spPr>
          <a:xfrm>
            <a:off x="9966960" y="2679191"/>
            <a:ext cx="161848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Enriched catalogue exported · Dashboard live · Policy recommendations issued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251" name="Google Shape;251;p5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14 User-Intent Categories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Designed for how organisations actually search — not how data scientists label.</a:t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411480" y="2240279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411480" y="2404871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Health</a:t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3182112" y="2240279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3182112" y="2404871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5952744" y="2240279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5952744" y="2404871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Housing</a:t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8723376" y="2240279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 txBox="1"/>
          <p:nvPr/>
        </p:nvSpPr>
        <p:spPr>
          <a:xfrm>
            <a:off x="8723376" y="2404871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411480" y="3026663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 txBox="1"/>
          <p:nvPr/>
        </p:nvSpPr>
        <p:spPr>
          <a:xfrm>
            <a:off x="411480" y="3191255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3182112" y="3026663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3182112" y="3191255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5952744" y="3026663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 txBox="1"/>
          <p:nvPr/>
        </p:nvSpPr>
        <p:spPr>
          <a:xfrm>
            <a:off x="5952744" y="3191255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8723376" y="3026663"/>
            <a:ext cx="2606040" cy="65836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 txBox="1"/>
          <p:nvPr/>
        </p:nvSpPr>
        <p:spPr>
          <a:xfrm>
            <a:off x="8723376" y="3191255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Poverty</a:t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411480" y="3813047"/>
            <a:ext cx="2606040" cy="65836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 txBox="1"/>
          <p:nvPr/>
        </p:nvSpPr>
        <p:spPr>
          <a:xfrm>
            <a:off x="411480" y="3977639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3182112" y="3813047"/>
            <a:ext cx="2606040" cy="65836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 txBox="1"/>
          <p:nvPr/>
        </p:nvSpPr>
        <p:spPr>
          <a:xfrm>
            <a:off x="3182112" y="3977639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5952744" y="3813047"/>
            <a:ext cx="2606040" cy="65836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 txBox="1"/>
          <p:nvPr/>
        </p:nvSpPr>
        <p:spPr>
          <a:xfrm>
            <a:off x="5952744" y="3977639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/>
          </a:p>
        </p:txBody>
      </p:sp>
      <p:sp>
        <p:nvSpPr>
          <p:cNvPr id="281" name="Google Shape;281;p5"/>
          <p:cNvSpPr/>
          <p:nvPr/>
        </p:nvSpPr>
        <p:spPr>
          <a:xfrm>
            <a:off x="8723376" y="3813047"/>
            <a:ext cx="2606040" cy="65836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 txBox="1"/>
          <p:nvPr/>
        </p:nvSpPr>
        <p:spPr>
          <a:xfrm>
            <a:off x="8723376" y="3977639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Economy</a:t>
            </a:r>
            <a:endParaRPr/>
          </a:p>
        </p:txBody>
      </p:sp>
      <p:sp>
        <p:nvSpPr>
          <p:cNvPr id="283" name="Google Shape;283;p5"/>
          <p:cNvSpPr/>
          <p:nvPr/>
        </p:nvSpPr>
        <p:spPr>
          <a:xfrm>
            <a:off x="411480" y="4599431"/>
            <a:ext cx="2606040" cy="65836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411480" y="4764023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Government</a:t>
            </a:r>
            <a:endParaRPr/>
          </a:p>
        </p:txBody>
      </p:sp>
      <p:sp>
        <p:nvSpPr>
          <p:cNvPr id="285" name="Google Shape;285;p5"/>
          <p:cNvSpPr/>
          <p:nvPr/>
        </p:nvSpPr>
        <p:spPr>
          <a:xfrm>
            <a:off x="3182112" y="4599431"/>
            <a:ext cx="2606040" cy="65836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3182112" y="4764023"/>
            <a:ext cx="2606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</p:txBody>
      </p:sp>
      <p:sp>
        <p:nvSpPr>
          <p:cNvPr id="287" name="Google Shape;287;p5"/>
          <p:cNvSpPr txBox="1"/>
          <p:nvPr/>
        </p:nvSpPr>
        <p:spPr>
          <a:xfrm>
            <a:off x="411480" y="5623558"/>
            <a:ext cx="11365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Multi-label classification — a single dataset can belong to multiple categories.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Source Types</a:t>
            </a:r>
            <a:endParaRPr/>
          </a:p>
        </p:txBody>
      </p:sp>
      <p:sp>
        <p:nvSpPr>
          <p:cNvPr id="298" name="Google Shape;298;p6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AI classifies every publisher into one of four institutional categories.</a:t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PUBLISHER CLASSIFICATION</a:t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411480" y="2285999"/>
            <a:ext cx="26060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11480" y="2285999"/>
            <a:ext cx="2606040" cy="41148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 txBox="1"/>
          <p:nvPr/>
        </p:nvSpPr>
        <p:spPr>
          <a:xfrm>
            <a:off x="502920" y="2340863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 Authorities</a:t>
            </a:r>
            <a:endParaRPr/>
          </a:p>
        </p:txBody>
      </p:sp>
      <p:sp>
        <p:nvSpPr>
          <p:cNvPr id="308" name="Google Shape;308;p6"/>
          <p:cNvSpPr txBox="1"/>
          <p:nvPr/>
        </p:nvSpPr>
        <p:spPr>
          <a:xfrm>
            <a:off x="502920" y="2834639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~99%</a:t>
            </a:r>
            <a:endParaRPr/>
          </a:p>
        </p:txBody>
      </p:sp>
      <p:sp>
        <p:nvSpPr>
          <p:cNvPr id="309" name="Google Shape;309;p6"/>
          <p:cNvSpPr txBox="1"/>
          <p:nvPr/>
        </p:nvSpPr>
        <p:spPr>
          <a:xfrm>
            <a:off x="502920" y="3456431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of catalogue</a:t>
            </a:r>
            <a:endParaRPr/>
          </a:p>
        </p:txBody>
      </p:sp>
      <p:sp>
        <p:nvSpPr>
          <p:cNvPr id="310" name="Google Shape;310;p6"/>
          <p:cNvSpPr txBox="1"/>
          <p:nvPr/>
        </p:nvSpPr>
        <p:spPr>
          <a:xfrm>
            <a:off x="502920" y="3794759"/>
            <a:ext cx="2423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Councils, GLA, TfL, NHS trusts, emergency services</a:t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3182112" y="2285999"/>
            <a:ext cx="26060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3182112" y="2285999"/>
            <a:ext cx="2606040" cy="41148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3273552" y="2340863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Companies</a:t>
            </a:r>
            <a:endParaRPr/>
          </a:p>
        </p:txBody>
      </p:sp>
      <p:sp>
        <p:nvSpPr>
          <p:cNvPr id="314" name="Google Shape;314;p6"/>
          <p:cNvSpPr txBox="1"/>
          <p:nvPr/>
        </p:nvSpPr>
        <p:spPr>
          <a:xfrm>
            <a:off x="3273552" y="2834639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&lt;1%</a:t>
            </a:r>
            <a:endParaRPr/>
          </a:p>
        </p:txBody>
      </p:sp>
      <p:sp>
        <p:nvSpPr>
          <p:cNvPr id="315" name="Google Shape;315;p6"/>
          <p:cNvSpPr txBox="1"/>
          <p:nvPr/>
        </p:nvSpPr>
        <p:spPr>
          <a:xfrm>
            <a:off x="3273552" y="3456431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of catalogue</a:t>
            </a:r>
            <a:endParaRPr/>
          </a:p>
        </p:txBody>
      </p:sp>
      <p:sp>
        <p:nvSpPr>
          <p:cNvPr id="316" name="Google Shape;316;p6"/>
          <p:cNvSpPr txBox="1"/>
          <p:nvPr/>
        </p:nvSpPr>
        <p:spPr>
          <a:xfrm>
            <a:off x="3273552" y="3794759"/>
            <a:ext cx="2423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UK Power Networks, Thames Water, private operators</a:t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5952744" y="2285999"/>
            <a:ext cx="26060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5952744" y="2285999"/>
            <a:ext cx="2606040" cy="411480"/>
          </a:xfrm>
          <a:prstGeom prst="rect">
            <a:avLst/>
          </a:prstGeom>
          <a:solidFill>
            <a:srgbClr val="F477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 txBox="1"/>
          <p:nvPr/>
        </p:nvSpPr>
        <p:spPr>
          <a:xfrm>
            <a:off x="6044184" y="2340863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Academia</a:t>
            </a:r>
            <a:endParaRPr/>
          </a:p>
        </p:txBody>
      </p:sp>
      <p:sp>
        <p:nvSpPr>
          <p:cNvPr id="320" name="Google Shape;320;p6"/>
          <p:cNvSpPr txBox="1"/>
          <p:nvPr/>
        </p:nvSpPr>
        <p:spPr>
          <a:xfrm>
            <a:off x="6044184" y="2834639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47738"/>
                </a:solidFill>
                <a:latin typeface="Arial"/>
                <a:ea typeface="Arial"/>
                <a:cs typeface="Arial"/>
                <a:sym typeface="Arial"/>
              </a:rPr>
              <a:t>&lt;1%</a:t>
            </a:r>
            <a:endParaRPr/>
          </a:p>
        </p:txBody>
      </p:sp>
      <p:sp>
        <p:nvSpPr>
          <p:cNvPr id="321" name="Google Shape;321;p6"/>
          <p:cNvSpPr txBox="1"/>
          <p:nvPr/>
        </p:nvSpPr>
        <p:spPr>
          <a:xfrm>
            <a:off x="6044184" y="3456431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of catalogue</a:t>
            </a:r>
            <a:endParaRPr/>
          </a:p>
        </p:txBody>
      </p:sp>
      <p:sp>
        <p:nvSpPr>
          <p:cNvPr id="322" name="Google Shape;322;p6"/>
          <p:cNvSpPr txBox="1"/>
          <p:nvPr/>
        </p:nvSpPr>
        <p:spPr>
          <a:xfrm>
            <a:off x="6044184" y="3794759"/>
            <a:ext cx="2423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UCL, King's College London, university research units</a:t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8723376" y="2285999"/>
            <a:ext cx="26060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8723376" y="2285999"/>
            <a:ext cx="2606040" cy="411480"/>
          </a:xfrm>
          <a:prstGeom prst="rect">
            <a:avLst/>
          </a:prstGeom>
          <a:solidFill>
            <a:srgbClr val="D435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 txBox="1"/>
          <p:nvPr/>
        </p:nvSpPr>
        <p:spPr>
          <a:xfrm>
            <a:off x="8814816" y="2340863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Charities</a:t>
            </a:r>
            <a:endParaRPr/>
          </a:p>
        </p:txBody>
      </p:sp>
      <p:sp>
        <p:nvSpPr>
          <p:cNvPr id="326" name="Google Shape;326;p6"/>
          <p:cNvSpPr txBox="1"/>
          <p:nvPr/>
        </p:nvSpPr>
        <p:spPr>
          <a:xfrm>
            <a:off x="8814816" y="2834639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&lt;1%</a:t>
            </a:r>
            <a:endParaRPr/>
          </a:p>
        </p:txBody>
      </p:sp>
      <p:sp>
        <p:nvSpPr>
          <p:cNvPr id="327" name="Google Shape;327;p6"/>
          <p:cNvSpPr txBox="1"/>
          <p:nvPr/>
        </p:nvSpPr>
        <p:spPr>
          <a:xfrm>
            <a:off x="8814816" y="3456431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of catalogue</a:t>
            </a:r>
            <a:endParaRPr/>
          </a:p>
        </p:txBody>
      </p:sp>
      <p:sp>
        <p:nvSpPr>
          <p:cNvPr id="328" name="Google Shape;328;p6"/>
          <p:cNvSpPr txBox="1"/>
          <p:nvPr/>
        </p:nvSpPr>
        <p:spPr>
          <a:xfrm>
            <a:off x="8814816" y="3794759"/>
            <a:ext cx="2423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Family &amp; Childcare Trust, housing charities, third sector</a:t>
            </a:r>
            <a:endParaRPr/>
          </a:p>
        </p:txBody>
      </p:sp>
      <p:sp>
        <p:nvSpPr>
          <p:cNvPr id="329" name="Google Shape;329;p6"/>
          <p:cNvSpPr txBox="1"/>
          <p:nvPr/>
        </p:nvSpPr>
        <p:spPr>
          <a:xfrm>
            <a:off x="411480" y="5394959"/>
            <a:ext cx="11365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Finding: The catalogue is almost entirely Local Authority data. Academia, Companies and Charities are severely under-represented — a governance gap GLA should address.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Rigorous, reproducible, auditable — built on the Probabl / scikit-learn standard.</a:t>
            </a:r>
            <a:endParaRPr/>
          </a:p>
        </p:txBody>
      </p:sp>
      <p:sp>
        <p:nvSpPr>
          <p:cNvPr id="341" name="Google Shape;341;p7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345" name="Google Shape;345;p7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502920" y="1874519"/>
            <a:ext cx="274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857D"/>
                </a:solidFill>
              </a:rPr>
              <a:t>PROBABLE</a:t>
            </a: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 SKILLS PIPELINE</a:t>
            </a:r>
            <a:endParaRPr/>
          </a:p>
        </p:txBody>
      </p:sp>
      <p:sp>
        <p:nvSpPr>
          <p:cNvPr id="347" name="Google Shape;347;p7"/>
          <p:cNvSpPr/>
          <p:nvPr/>
        </p:nvSpPr>
        <p:spPr>
          <a:xfrm>
            <a:off x="411480" y="2240279"/>
            <a:ext cx="45720" cy="5486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521208" y="2240279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explore-ml-data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521208" y="2496311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EDA on 20,685 datasets — null rates, format distribution, category balance</a:t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411480" y="2990087"/>
            <a:ext cx="45720" cy="5486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521208" y="2990087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build-ml-pipeline</a:t>
            </a:r>
            <a:endParaRPr/>
          </a:p>
        </p:txBody>
      </p:sp>
      <p:sp>
        <p:nvSpPr>
          <p:cNvPr id="352" name="Google Shape;352;p7"/>
          <p:cNvSpPr txBox="1"/>
          <p:nvPr/>
        </p:nvSpPr>
        <p:spPr>
          <a:xfrm>
            <a:off x="521208" y="3246119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TF-IDF vectorisation on title + description · Multi-label Binary Relevance</a:t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411480" y="3739895"/>
            <a:ext cx="45720" cy="5486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 txBox="1"/>
          <p:nvPr/>
        </p:nvSpPr>
        <p:spPr>
          <a:xfrm>
            <a:off x="521208" y="3739895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evaluate-ml-pipeline</a:t>
            </a:r>
            <a:endParaRPr/>
          </a:p>
        </p:txBody>
      </p:sp>
      <p:sp>
        <p:nvSpPr>
          <p:cNvPr id="355" name="Google Shape;355;p7"/>
          <p:cNvSpPr txBox="1"/>
          <p:nvPr/>
        </p:nvSpPr>
        <p:spPr>
          <a:xfrm>
            <a:off x="521208" y="3995927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5-fold stratified cross-validation · Micro + Macro + per-category metrics</a:t>
            </a: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411480" y="4489703"/>
            <a:ext cx="45720" cy="5486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521208" y="4489703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audit-ml-pipeline</a:t>
            </a:r>
            <a:endParaRPr/>
          </a:p>
        </p:txBody>
      </p:sp>
      <p:sp>
        <p:nvSpPr>
          <p:cNvPr id="358" name="Google Shape;358;p7"/>
          <p:cNvSpPr txBox="1"/>
          <p:nvPr/>
        </p:nvSpPr>
        <p:spPr>
          <a:xfrm>
            <a:off x="521208" y="4745735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Confusion matrix, low-confidence predictions flagged for human review</a:t>
            </a: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411480" y="5239511"/>
            <a:ext cx="45720" cy="5486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521208" y="5239511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iterate-ml-experiment</a:t>
            </a:r>
            <a:endParaRPr/>
          </a:p>
        </p:txBody>
      </p:sp>
      <p:sp>
        <p:nvSpPr>
          <p:cNvPr id="361" name="Google Shape;361;p7"/>
          <p:cNvSpPr txBox="1"/>
          <p:nvPr/>
        </p:nvSpPr>
        <p:spPr>
          <a:xfrm>
            <a:off x="521208" y="5495543"/>
            <a:ext cx="5166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Threshold tuning per category to optimise F1 on imbalanced classes</a:t>
            </a:r>
            <a:endParaRPr/>
          </a:p>
        </p:txBody>
      </p:sp>
      <p:sp>
        <p:nvSpPr>
          <p:cNvPr id="362" name="Google Shape;362;p7"/>
          <p:cNvSpPr/>
          <p:nvPr/>
        </p:nvSpPr>
        <p:spPr>
          <a:xfrm>
            <a:off x="5989320" y="2240279"/>
            <a:ext cx="1737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5989320" y="2240279"/>
            <a:ext cx="1737360" cy="54864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6080760" y="2404871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/>
          </a:p>
        </p:txBody>
      </p:sp>
      <p:sp>
        <p:nvSpPr>
          <p:cNvPr id="365" name="Google Shape;365;p7"/>
          <p:cNvSpPr txBox="1"/>
          <p:nvPr/>
        </p:nvSpPr>
        <p:spPr>
          <a:xfrm>
            <a:off x="6080760" y="2697479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0.92</a:t>
            </a:r>
            <a:endParaRPr/>
          </a:p>
        </p:txBody>
      </p:sp>
      <p:sp>
        <p:nvSpPr>
          <p:cNvPr id="366" name="Google Shape;366;p7"/>
          <p:cNvSpPr/>
          <p:nvPr/>
        </p:nvSpPr>
        <p:spPr>
          <a:xfrm>
            <a:off x="7909560" y="2240279"/>
            <a:ext cx="1737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7909560" y="2240279"/>
            <a:ext cx="1737360" cy="54864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 txBox="1"/>
          <p:nvPr/>
        </p:nvSpPr>
        <p:spPr>
          <a:xfrm>
            <a:off x="8001000" y="2404871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/>
          </a:p>
        </p:txBody>
      </p:sp>
      <p:sp>
        <p:nvSpPr>
          <p:cNvPr id="369" name="Google Shape;369;p7"/>
          <p:cNvSpPr txBox="1"/>
          <p:nvPr/>
        </p:nvSpPr>
        <p:spPr>
          <a:xfrm>
            <a:off x="8001000" y="2697479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9829800" y="2240279"/>
            <a:ext cx="173736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9829800" y="2240279"/>
            <a:ext cx="1737360" cy="54864"/>
          </a:xfrm>
          <a:prstGeom prst="rect">
            <a:avLst/>
          </a:prstGeom>
          <a:solidFill>
            <a:srgbClr val="F477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 txBox="1"/>
          <p:nvPr/>
        </p:nvSpPr>
        <p:spPr>
          <a:xfrm>
            <a:off x="9921240" y="2404871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F1 SCORE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9921240" y="2697479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47738"/>
                </a:solidFill>
                <a:latin typeface="Arial"/>
                <a:ea typeface="Arial"/>
                <a:cs typeface="Arial"/>
                <a:sym typeface="Arial"/>
              </a:rPr>
              <a:t>0.91</a:t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5989320" y="3794759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Micro-averaged across all 14 categories · 5-fold cross-validation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384" name="Google Shape;384;p8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The Croydon Finding</a:t>
            </a:r>
            <a:endParaRPr/>
          </a:p>
        </p:txBody>
      </p:sp>
      <p:sp>
        <p:nvSpPr>
          <p:cNvPr id="385" name="Google Shape;385;p8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One borough dominates London's open data — a structural governance risk.</a:t>
            </a:r>
            <a:endParaRPr/>
          </a:p>
        </p:txBody>
      </p:sp>
      <p:sp>
        <p:nvSpPr>
          <p:cNvPr id="386" name="Google Shape;386;p8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390" name="Google Shape;390;p8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GOVERNANCE FINDING #3</a:t>
            </a:r>
            <a:endParaRPr/>
          </a:p>
        </p:txBody>
      </p:sp>
      <p:sp>
        <p:nvSpPr>
          <p:cNvPr id="392" name="Google Shape;392;p8"/>
          <p:cNvSpPr/>
          <p:nvPr/>
        </p:nvSpPr>
        <p:spPr>
          <a:xfrm>
            <a:off x="411480" y="2240279"/>
            <a:ext cx="4114800" cy="219456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 txBox="1"/>
          <p:nvPr/>
        </p:nvSpPr>
        <p:spPr>
          <a:xfrm>
            <a:off x="548640" y="2377439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72.9%</a:t>
            </a:r>
            <a:endParaRPr/>
          </a:p>
        </p:txBody>
      </p:sp>
      <p:sp>
        <p:nvSpPr>
          <p:cNvPr id="394" name="Google Shape;394;p8"/>
          <p:cNvSpPr txBox="1"/>
          <p:nvPr/>
        </p:nvSpPr>
        <p:spPr>
          <a:xfrm>
            <a:off x="548640" y="3566159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of the entire catalogue comes from</a:t>
            </a:r>
            <a:b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one borough — Croydon</a:t>
            </a:r>
            <a:endParaRPr/>
          </a:p>
        </p:txBody>
      </p:sp>
      <p:sp>
        <p:nvSpPr>
          <p:cNvPr id="395" name="Google Shape;395;p8"/>
          <p:cNvSpPr txBox="1"/>
          <p:nvPr/>
        </p:nvSpPr>
        <p:spPr>
          <a:xfrm>
            <a:off x="4800600" y="2240279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/>
          </a:p>
        </p:txBody>
      </p:sp>
      <p:sp>
        <p:nvSpPr>
          <p:cNvPr id="396" name="Google Shape;396;p8"/>
          <p:cNvSpPr txBox="1"/>
          <p:nvPr/>
        </p:nvSpPr>
        <p:spPr>
          <a:xfrm>
            <a:off x="4800600" y="2651759"/>
            <a:ext cx="6858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• London's 'open data' does not represent London — 32 boroughs are structurally absent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• Researchers and councils cannot make city-wide comparisons with confidence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• AI models trained on this data will be geographically biased toward Croydon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• GLA has no governance mechanism to ensure equitable borough contribution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• This is a policy failure, not a data quality issue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406" name="Google Shape;406;p9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Before &amp; After</a:t>
            </a:r>
            <a:endParaRPr/>
          </a:p>
        </p:txBody>
      </p:sp>
      <p:sp>
        <p:nvSpPr>
          <p:cNvPr id="407" name="Google Shape;407;p9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What the catalogue looks like without and with the governance layer.</a:t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411480" y="1874519"/>
            <a:ext cx="539496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411480" y="1874519"/>
            <a:ext cx="5394960" cy="384048"/>
          </a:xfrm>
          <a:prstGeom prst="rect">
            <a:avLst/>
          </a:prstGeom>
          <a:solidFill>
            <a:srgbClr val="D435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 txBox="1"/>
          <p:nvPr/>
        </p:nvSpPr>
        <p:spPr>
          <a:xfrm>
            <a:off x="521208" y="1938527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— Raw Catalogue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548640" y="237743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Tags / Themes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2606040" y="237743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None — 92.5% have zero tags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548640" y="297179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Licence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2606040" y="297179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92.7% unknown — legally unusable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548640" y="356615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Availability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2606040" y="356615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Not tracked — 88.8% empty shells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548640" y="416051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Source Type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2606040" y="416051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Not classified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548640" y="475487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Deprecated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2606040" y="475487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1,226 live in search</a:t>
            </a:r>
            <a:endParaRPr/>
          </a:p>
        </p:txBody>
      </p:sp>
      <p:sp>
        <p:nvSpPr>
          <p:cNvPr id="425" name="Google Shape;425;p9"/>
          <p:cNvSpPr txBox="1"/>
          <p:nvPr/>
        </p:nvSpPr>
        <p:spPr>
          <a:xfrm>
            <a:off x="548640" y="534923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Searchability</a:t>
            </a:r>
            <a:endParaRPr/>
          </a:p>
        </p:txBody>
      </p:sp>
      <p:sp>
        <p:nvSpPr>
          <p:cNvPr id="426" name="Google Shape;426;p9"/>
          <p:cNvSpPr txBox="1"/>
          <p:nvPr/>
        </p:nvSpPr>
        <p:spPr>
          <a:xfrm>
            <a:off x="2606040" y="534923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4351C"/>
                </a:solidFill>
                <a:latin typeface="Arial"/>
                <a:ea typeface="Arial"/>
                <a:cs typeface="Arial"/>
                <a:sym typeface="Arial"/>
              </a:rPr>
              <a:t>Keyword-only, no filtering</a:t>
            </a:r>
            <a:endParaRPr/>
          </a:p>
        </p:txBody>
      </p:sp>
      <p:sp>
        <p:nvSpPr>
          <p:cNvPr id="427" name="Google Shape;427;p9"/>
          <p:cNvSpPr txBox="1"/>
          <p:nvPr/>
        </p:nvSpPr>
        <p:spPr>
          <a:xfrm>
            <a:off x="5775558" y="3520450"/>
            <a:ext cx="54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6355080" y="1874519"/>
            <a:ext cx="539496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6355080" y="1874519"/>
            <a:ext cx="5394960" cy="384048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 txBox="1"/>
          <p:nvPr/>
        </p:nvSpPr>
        <p:spPr>
          <a:xfrm>
            <a:off x="6464808" y="1938527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— Governed Catalogue</a:t>
            </a:r>
            <a:endParaRPr/>
          </a:p>
        </p:txBody>
      </p:sp>
      <p:sp>
        <p:nvSpPr>
          <p:cNvPr id="431" name="Google Shape;431;p9"/>
          <p:cNvSpPr txBox="1"/>
          <p:nvPr/>
        </p:nvSpPr>
        <p:spPr>
          <a:xfrm>
            <a:off x="6492240" y="237743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Tags / Themes</a:t>
            </a:r>
            <a:endParaRPr/>
          </a:p>
        </p:txBody>
      </p:sp>
      <p:sp>
        <p:nvSpPr>
          <p:cNvPr id="432" name="Google Shape;432;p9"/>
          <p:cNvSpPr txBox="1"/>
          <p:nvPr/>
        </p:nvSpPr>
        <p:spPr>
          <a:xfrm>
            <a:off x="8549640" y="237743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703C"/>
                </a:solidFill>
                <a:latin typeface="Arial"/>
                <a:ea typeface="Arial"/>
                <a:cs typeface="Arial"/>
                <a:sym typeface="Arial"/>
              </a:rPr>
              <a:t>14 user-intent categories, AI-assigned, multi-label</a:t>
            </a:r>
            <a:endParaRPr/>
          </a:p>
        </p:txBody>
      </p:sp>
      <p:sp>
        <p:nvSpPr>
          <p:cNvPr id="433" name="Google Shape;433;p9"/>
          <p:cNvSpPr txBox="1"/>
          <p:nvPr/>
        </p:nvSpPr>
        <p:spPr>
          <a:xfrm>
            <a:off x="6492240" y="297179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Licence</a:t>
            </a:r>
            <a:endParaRPr/>
          </a:p>
        </p:txBody>
      </p:sp>
      <p:sp>
        <p:nvSpPr>
          <p:cNvPr id="434" name="Google Shape;434;p9"/>
          <p:cNvSpPr txBox="1"/>
          <p:nvPr/>
        </p:nvSpPr>
        <p:spPr>
          <a:xfrm>
            <a:off x="8549640" y="297179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703C"/>
                </a:solidFill>
                <a:latin typeface="Arial"/>
                <a:ea typeface="Arial"/>
                <a:cs typeface="Arial"/>
                <a:sym typeface="Arial"/>
              </a:rPr>
              <a:t>Licensed / Unlicensed — clear for every dataset</a:t>
            </a:r>
            <a:endParaRPr/>
          </a:p>
        </p:txBody>
      </p:sp>
      <p:sp>
        <p:nvSpPr>
          <p:cNvPr id="435" name="Google Shape;435;p9"/>
          <p:cNvSpPr txBox="1"/>
          <p:nvPr/>
        </p:nvSpPr>
        <p:spPr>
          <a:xfrm>
            <a:off x="6492240" y="356615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Availability</a:t>
            </a:r>
            <a:endParaRPr/>
          </a:p>
        </p:txBody>
      </p:sp>
      <p:sp>
        <p:nvSpPr>
          <p:cNvPr id="436" name="Google Shape;436;p9"/>
          <p:cNvSpPr txBox="1"/>
          <p:nvPr/>
        </p:nvSpPr>
        <p:spPr>
          <a:xfrm>
            <a:off x="8549640" y="356615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703C"/>
                </a:solidFill>
                <a:latin typeface="Arial"/>
                <a:ea typeface="Arial"/>
                <a:cs typeface="Arial"/>
                <a:sym typeface="Arial"/>
              </a:rPr>
              <a:t>Metadata Only / Enriched Data — transparent</a:t>
            </a:r>
            <a:endParaRPr/>
          </a:p>
        </p:txBody>
      </p:sp>
      <p:sp>
        <p:nvSpPr>
          <p:cNvPr id="437" name="Google Shape;437;p9"/>
          <p:cNvSpPr txBox="1"/>
          <p:nvPr/>
        </p:nvSpPr>
        <p:spPr>
          <a:xfrm>
            <a:off x="6492240" y="416051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Source Type</a:t>
            </a:r>
            <a:endParaRPr/>
          </a:p>
        </p:txBody>
      </p:sp>
      <p:sp>
        <p:nvSpPr>
          <p:cNvPr id="438" name="Google Shape;438;p9"/>
          <p:cNvSpPr txBox="1"/>
          <p:nvPr/>
        </p:nvSpPr>
        <p:spPr>
          <a:xfrm>
            <a:off x="8549640" y="416051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703C"/>
                </a:solidFill>
                <a:latin typeface="Arial"/>
                <a:ea typeface="Arial"/>
                <a:cs typeface="Arial"/>
                <a:sym typeface="Arial"/>
              </a:rPr>
              <a:t>Local Authority / Company / Academia / Charity</a:t>
            </a:r>
            <a:endParaRPr/>
          </a:p>
        </p:txBody>
      </p:sp>
      <p:sp>
        <p:nvSpPr>
          <p:cNvPr id="439" name="Google Shape;439;p9"/>
          <p:cNvSpPr txBox="1"/>
          <p:nvPr/>
        </p:nvSpPr>
        <p:spPr>
          <a:xfrm>
            <a:off x="6492240" y="475487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Deprecated</a:t>
            </a:r>
            <a:endParaRPr/>
          </a:p>
        </p:txBody>
      </p:sp>
      <p:sp>
        <p:nvSpPr>
          <p:cNvPr id="440" name="Google Shape;440;p9"/>
          <p:cNvSpPr txBox="1"/>
          <p:nvPr/>
        </p:nvSpPr>
        <p:spPr>
          <a:xfrm>
            <a:off x="8549640" y="475487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703C"/>
                </a:solidFill>
                <a:latin typeface="Arial"/>
                <a:ea typeface="Arial"/>
                <a:cs typeface="Arial"/>
                <a:sym typeface="Arial"/>
              </a:rPr>
              <a:t>Flagged and excluded from search by default</a:t>
            </a:r>
            <a:endParaRPr/>
          </a:p>
        </p:txBody>
      </p:sp>
      <p:sp>
        <p:nvSpPr>
          <p:cNvPr id="441" name="Google Shape;441;p9"/>
          <p:cNvSpPr txBox="1"/>
          <p:nvPr/>
        </p:nvSpPr>
        <p:spPr>
          <a:xfrm>
            <a:off x="6492240" y="5349239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Searchability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8549640" y="5349239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703C"/>
                </a:solidFill>
                <a:latin typeface="Arial"/>
                <a:ea typeface="Arial"/>
                <a:cs typeface="Arial"/>
                <a:sym typeface="Arial"/>
              </a:rPr>
              <a:t>Filter by category, licence, source type, availability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0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452" name="Google Shape;452;p10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Live Dashboard</a:t>
            </a:r>
            <a:endParaRPr/>
          </a:p>
        </p:txBody>
      </p:sp>
      <p:sp>
        <p:nvSpPr>
          <p:cNvPr id="453" name="Google Shape;453;p10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London AI Governance — deployed and searchable today.</a:t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DELIVERABLE</a:t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411480" y="2285999"/>
            <a:ext cx="11365992" cy="50292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 txBox="1"/>
          <p:nvPr/>
        </p:nvSpPr>
        <p:spPr>
          <a:xfrm>
            <a:off x="594360" y="2350007"/>
            <a:ext cx="110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857D"/>
                </a:solidFill>
              </a:rPr>
              <a:t>https://londondash-ybc9ak2e.manus.space</a:t>
            </a:r>
            <a:endParaRPr b="1" sz="1600">
              <a:solidFill>
                <a:srgbClr val="00857D"/>
              </a:solidFill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411480" y="2971799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411480" y="2971799"/>
            <a:ext cx="45720" cy="10058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 txBox="1"/>
          <p:nvPr/>
        </p:nvSpPr>
        <p:spPr>
          <a:xfrm>
            <a:off x="521208" y="306323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Overview Tab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521208" y="3383279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KPI cards, category distribution chart, source types, licence status</a:t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6080760" y="2971799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6080760" y="2971799"/>
            <a:ext cx="45720" cy="10058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 txBox="1"/>
          <p:nvPr/>
        </p:nvSpPr>
        <p:spPr>
          <a:xfrm>
            <a:off x="6190488" y="306323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Search Catalogue</a:t>
            </a:r>
            <a:endParaRPr/>
          </a:p>
        </p:txBody>
      </p:sp>
      <p:sp>
        <p:nvSpPr>
          <p:cNvPr id="469" name="Google Shape;469;p10"/>
          <p:cNvSpPr txBox="1"/>
          <p:nvPr/>
        </p:nvSpPr>
        <p:spPr>
          <a:xfrm>
            <a:off x="6190488" y="3383279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Filter by category, licence, source type, availability — all 20,685 datasets</a:t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411480" y="4160519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411480" y="4160519"/>
            <a:ext cx="45720" cy="10058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 txBox="1"/>
          <p:nvPr/>
        </p:nvSpPr>
        <p:spPr>
          <a:xfrm>
            <a:off x="521208" y="425195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Governance Findings</a:t>
            </a:r>
            <a:endParaRPr/>
          </a:p>
        </p:txBody>
      </p:sp>
      <p:sp>
        <p:nvSpPr>
          <p:cNvPr id="473" name="Google Shape;473;p10"/>
          <p:cNvSpPr txBox="1"/>
          <p:nvPr/>
        </p:nvSpPr>
        <p:spPr>
          <a:xfrm>
            <a:off x="521208" y="4571999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Croydon imbalance, deprecated datasets, format chaos, licence gap</a:t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6080760" y="4160519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6080760" y="4160519"/>
            <a:ext cx="45720" cy="1005840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 txBox="1"/>
          <p:nvPr/>
        </p:nvSpPr>
        <p:spPr>
          <a:xfrm>
            <a:off x="6190488" y="4251959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AI Model Performance</a:t>
            </a:r>
            <a:endParaRPr/>
          </a:p>
        </p:txBody>
      </p:sp>
      <p:sp>
        <p:nvSpPr>
          <p:cNvPr id="477" name="Google Shape;477;p10"/>
          <p:cNvSpPr txBox="1"/>
          <p:nvPr/>
        </p:nvSpPr>
        <p:spPr>
          <a:xfrm>
            <a:off x="6190488" y="4571999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Precision 0.92 · Recall 0.90 · F1 0.91 · Per-category breakdown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487" name="Google Shape;487;p11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Policy Recommendations</a:t>
            </a:r>
            <a:endParaRPr/>
          </a:p>
        </p:txBody>
      </p:sp>
      <p:sp>
        <p:nvSpPr>
          <p:cNvPr id="488" name="Google Shape;488;p11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Six actions GLA can take immediately to fix London's data governance.</a:t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FOR GLA</a:t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411480" y="2240279"/>
            <a:ext cx="347472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411480" y="2240279"/>
            <a:ext cx="3474720" cy="54864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502920" y="2377439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98" name="Google Shape;498;p11"/>
          <p:cNvSpPr txBox="1"/>
          <p:nvPr/>
        </p:nvSpPr>
        <p:spPr>
          <a:xfrm>
            <a:off x="914400" y="2377439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Mandate Licences</a:t>
            </a:r>
            <a:endParaRPr/>
          </a:p>
        </p:txBody>
      </p:sp>
      <p:sp>
        <p:nvSpPr>
          <p:cNvPr id="499" name="Google Shape;499;p11"/>
          <p:cNvSpPr txBox="1"/>
          <p:nvPr/>
        </p:nvSpPr>
        <p:spPr>
          <a:xfrm>
            <a:off x="502920" y="2770631"/>
            <a:ext cx="3310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Require OGL or CC0 on all new dataset submissions to the DFL Library</a:t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4050792" y="2240279"/>
            <a:ext cx="347472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4050792" y="2240279"/>
            <a:ext cx="3474720" cy="54864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 txBox="1"/>
          <p:nvPr/>
        </p:nvSpPr>
        <p:spPr>
          <a:xfrm>
            <a:off x="4142232" y="2377439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03" name="Google Shape;503;p11"/>
          <p:cNvSpPr txBox="1"/>
          <p:nvPr/>
        </p:nvSpPr>
        <p:spPr>
          <a:xfrm>
            <a:off x="4553712" y="2377439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Adopt the Taxonomy</a:t>
            </a:r>
            <a:endParaRPr/>
          </a:p>
        </p:txBody>
      </p:sp>
      <p:sp>
        <p:nvSpPr>
          <p:cNvPr id="504" name="Google Shape;504;p11"/>
          <p:cNvSpPr txBox="1"/>
          <p:nvPr/>
        </p:nvSpPr>
        <p:spPr>
          <a:xfrm>
            <a:off x="4142232" y="2770631"/>
            <a:ext cx="3310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Implement the 14 user-intent categories as the official DFL classification standard</a:t>
            </a: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7690104" y="2240279"/>
            <a:ext cx="347472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7690104" y="2240279"/>
            <a:ext cx="3474720" cy="54864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 txBox="1"/>
          <p:nvPr/>
        </p:nvSpPr>
        <p:spPr>
          <a:xfrm>
            <a:off x="7781544" y="2377439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08" name="Google Shape;508;p11"/>
          <p:cNvSpPr txBox="1"/>
          <p:nvPr/>
        </p:nvSpPr>
        <p:spPr>
          <a:xfrm>
            <a:off x="8193024" y="2377439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Purge Deprecated</a:t>
            </a:r>
            <a:endParaRPr/>
          </a:p>
        </p:txBody>
      </p:sp>
      <p:sp>
        <p:nvSpPr>
          <p:cNvPr id="509" name="Google Shape;509;p11"/>
          <p:cNvSpPr txBox="1"/>
          <p:nvPr/>
        </p:nvSpPr>
        <p:spPr>
          <a:xfrm>
            <a:off x="7781544" y="2770631"/>
            <a:ext cx="3310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Remove or archive the 1,226 deprecated datasets from active search</a:t>
            </a: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411480" y="3977639"/>
            <a:ext cx="347472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411480" y="3977639"/>
            <a:ext cx="3474720" cy="54864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 txBox="1"/>
          <p:nvPr/>
        </p:nvSpPr>
        <p:spPr>
          <a:xfrm>
            <a:off x="502920" y="4114799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13" name="Google Shape;513;p11"/>
          <p:cNvSpPr txBox="1"/>
          <p:nvPr/>
        </p:nvSpPr>
        <p:spPr>
          <a:xfrm>
            <a:off x="914400" y="4114799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Borough Quotas</a:t>
            </a:r>
            <a:endParaRPr/>
          </a:p>
        </p:txBody>
      </p:sp>
      <p:sp>
        <p:nvSpPr>
          <p:cNvPr id="514" name="Google Shape;514;p11"/>
          <p:cNvSpPr txBox="1"/>
          <p:nvPr/>
        </p:nvSpPr>
        <p:spPr>
          <a:xfrm>
            <a:off x="502920" y="4507991"/>
            <a:ext cx="3310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Introduce minimum contribution requirements for all 33 London boroughs</a:t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4050792" y="3977639"/>
            <a:ext cx="347472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4050792" y="3977639"/>
            <a:ext cx="3474720" cy="54864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 txBox="1"/>
          <p:nvPr/>
        </p:nvSpPr>
        <p:spPr>
          <a:xfrm>
            <a:off x="4142232" y="4114799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518" name="Google Shape;518;p11"/>
          <p:cNvSpPr txBox="1"/>
          <p:nvPr/>
        </p:nvSpPr>
        <p:spPr>
          <a:xfrm>
            <a:off x="4553712" y="4114799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Standardise Formats</a:t>
            </a:r>
            <a:endParaRPr/>
          </a:p>
        </p:txBody>
      </p:sp>
      <p:sp>
        <p:nvSpPr>
          <p:cNvPr id="519" name="Google Shape;519;p11"/>
          <p:cNvSpPr txBox="1"/>
          <p:nvPr/>
        </p:nvSpPr>
        <p:spPr>
          <a:xfrm>
            <a:off x="4142232" y="4507991"/>
            <a:ext cx="3310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Enforce CSV/GeoJSON/XLSX — retire the 52 non-standard format strings</a:t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7690104" y="3977639"/>
            <a:ext cx="347472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7690104" y="3977639"/>
            <a:ext cx="3474720" cy="54864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 txBox="1"/>
          <p:nvPr/>
        </p:nvSpPr>
        <p:spPr>
          <a:xfrm>
            <a:off x="7781544" y="4114799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523" name="Google Shape;523;p11"/>
          <p:cNvSpPr txBox="1"/>
          <p:nvPr/>
        </p:nvSpPr>
        <p:spPr>
          <a:xfrm>
            <a:off x="8193024" y="4114799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Open the Pipeline</a:t>
            </a:r>
            <a:endParaRPr/>
          </a:p>
        </p:txBody>
      </p:sp>
      <p:sp>
        <p:nvSpPr>
          <p:cNvPr id="524" name="Google Shape;524;p11"/>
          <p:cNvSpPr txBox="1"/>
          <p:nvPr/>
        </p:nvSpPr>
        <p:spPr>
          <a:xfrm>
            <a:off x="7781544" y="4507991"/>
            <a:ext cx="3310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Publish this governance pipeline as an open tool for all UK data catalogues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2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0" y="347472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0" y="1764792"/>
            <a:ext cx="12188952" cy="411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 txBox="1"/>
          <p:nvPr/>
        </p:nvSpPr>
        <p:spPr>
          <a:xfrm>
            <a:off x="411480" y="402336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 for London Library › Governance</a:t>
            </a:r>
            <a:endParaRPr/>
          </a:p>
        </p:txBody>
      </p:sp>
      <p:sp>
        <p:nvSpPr>
          <p:cNvPr id="534" name="Google Shape;534;p12"/>
          <p:cNvSpPr txBox="1"/>
          <p:nvPr/>
        </p:nvSpPr>
        <p:spPr>
          <a:xfrm>
            <a:off x="411480" y="594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/>
          </a:p>
        </p:txBody>
      </p:sp>
      <p:sp>
        <p:nvSpPr>
          <p:cNvPr id="535" name="Google Shape;535;p12"/>
          <p:cNvSpPr txBox="1"/>
          <p:nvPr/>
        </p:nvSpPr>
        <p:spPr>
          <a:xfrm>
            <a:off x="411480" y="12344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Open source, reproducible, deployable.</a:t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10332720" y="502920"/>
            <a:ext cx="1691640" cy="34747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 txBox="1"/>
          <p:nvPr/>
        </p:nvSpPr>
        <p:spPr>
          <a:xfrm>
            <a:off x="10351008" y="521207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FOR PUBLIC GOOD</a:t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411480" y="1874519"/>
            <a:ext cx="54864" cy="25603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BUILT WITH</a:t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411480" y="2240279"/>
            <a:ext cx="260604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411480" y="2240279"/>
            <a:ext cx="2606040" cy="3840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 txBox="1"/>
          <p:nvPr/>
        </p:nvSpPr>
        <p:spPr>
          <a:xfrm>
            <a:off x="502920" y="2304287"/>
            <a:ext cx="2441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Pipeline</a:t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502920" y="2816351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 txBox="1"/>
          <p:nvPr/>
        </p:nvSpPr>
        <p:spPr>
          <a:xfrm>
            <a:off x="640080" y="274319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Python 3.11</a:t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502920" y="3291839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 txBox="1"/>
          <p:nvPr/>
        </p:nvSpPr>
        <p:spPr>
          <a:xfrm>
            <a:off x="640080" y="3218687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scikit-learn</a:t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502920" y="3767327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 txBox="1"/>
          <p:nvPr/>
        </p:nvSpPr>
        <p:spPr>
          <a:xfrm>
            <a:off x="640080" y="3694175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skrub</a:t>
            </a: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502920" y="4242815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 txBox="1"/>
          <p:nvPr/>
        </p:nvSpPr>
        <p:spPr>
          <a:xfrm>
            <a:off x="640080" y="4169663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skore</a:t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502920" y="4718303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 txBox="1"/>
          <p:nvPr/>
        </p:nvSpPr>
        <p:spPr>
          <a:xfrm>
            <a:off x="640080" y="4645151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502920" y="5193791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 txBox="1"/>
          <p:nvPr/>
        </p:nvSpPr>
        <p:spPr>
          <a:xfrm>
            <a:off x="640080" y="512063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TF-IDF Vectoriser</a:t>
            </a: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3182112" y="2240279"/>
            <a:ext cx="260604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3182112" y="2240279"/>
            <a:ext cx="2606040" cy="3840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 txBox="1"/>
          <p:nvPr/>
        </p:nvSpPr>
        <p:spPr>
          <a:xfrm>
            <a:off x="3273552" y="2304287"/>
            <a:ext cx="2441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3273552" y="2816351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 txBox="1"/>
          <p:nvPr/>
        </p:nvSpPr>
        <p:spPr>
          <a:xfrm>
            <a:off x="3410712" y="274319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Probabl Skills Pack v0.6.0</a:t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3273552" y="3291839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 txBox="1"/>
          <p:nvPr/>
        </p:nvSpPr>
        <p:spPr>
          <a:xfrm>
            <a:off x="3410712" y="3218687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explore-ml-data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3273552" y="3767327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3410712" y="3694175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build-ml-pipeline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3273552" y="4242815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 txBox="1"/>
          <p:nvPr/>
        </p:nvSpPr>
        <p:spPr>
          <a:xfrm>
            <a:off x="3410712" y="4169663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evaluate-ml-pipeline</a:t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3273552" y="4718303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 txBox="1"/>
          <p:nvPr/>
        </p:nvSpPr>
        <p:spPr>
          <a:xfrm>
            <a:off x="3410712" y="4645151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audit-ml-pipeline</a:t>
            </a: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5952744" y="2240279"/>
            <a:ext cx="260604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5952744" y="2240279"/>
            <a:ext cx="2606040" cy="3840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 txBox="1"/>
          <p:nvPr/>
        </p:nvSpPr>
        <p:spPr>
          <a:xfrm>
            <a:off x="6044184" y="2304287"/>
            <a:ext cx="2441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6044184" y="2816351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 txBox="1"/>
          <p:nvPr/>
        </p:nvSpPr>
        <p:spPr>
          <a:xfrm>
            <a:off x="6181344" y="274319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6044184" y="3291839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 txBox="1"/>
          <p:nvPr/>
        </p:nvSpPr>
        <p:spPr>
          <a:xfrm>
            <a:off x="6181344" y="3218687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Recharts</a:t>
            </a: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6044184" y="3767327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 txBox="1"/>
          <p:nvPr/>
        </p:nvSpPr>
        <p:spPr>
          <a:xfrm>
            <a:off x="6181344" y="3694175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Tailwind CSS 4</a:t>
            </a: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6044184" y="4242815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 txBox="1"/>
          <p:nvPr/>
        </p:nvSpPr>
        <p:spPr>
          <a:xfrm>
            <a:off x="6181344" y="4169663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shadcn/ui</a:t>
            </a: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6044184" y="4718303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 txBox="1"/>
          <p:nvPr/>
        </p:nvSpPr>
        <p:spPr>
          <a:xfrm>
            <a:off x="6181344" y="4645151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8723376" y="2240279"/>
            <a:ext cx="260604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1B4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8723376" y="2240279"/>
            <a:ext cx="2606040" cy="384048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 txBox="1"/>
          <p:nvPr/>
        </p:nvSpPr>
        <p:spPr>
          <a:xfrm>
            <a:off x="8814816" y="2304287"/>
            <a:ext cx="2441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8814816" y="2816351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 txBox="1"/>
          <p:nvPr/>
        </p:nvSpPr>
        <p:spPr>
          <a:xfrm>
            <a:off x="8951976" y="2743199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Data for London CKAN API</a:t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8814816" y="3291839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 txBox="1"/>
          <p:nvPr/>
        </p:nvSpPr>
        <p:spPr>
          <a:xfrm>
            <a:off x="8951976" y="3218687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ckan_catalogue.json (20,685 datasets)</a:t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8814816" y="3767327"/>
            <a:ext cx="73152" cy="73152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 txBox="1"/>
          <p:nvPr/>
        </p:nvSpPr>
        <p:spPr>
          <a:xfrm>
            <a:off x="8951976" y="3694175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B0C0C"/>
                </a:solidFill>
                <a:latin typeface="Arial"/>
                <a:ea typeface="Arial"/>
                <a:cs typeface="Arial"/>
                <a:sym typeface="Arial"/>
              </a:rPr>
              <a:t>dfl-library.london.gov.uk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3"/>
          <p:cNvSpPr/>
          <p:nvPr/>
        </p:nvSpPr>
        <p:spPr>
          <a:xfrm>
            <a:off x="0" y="0"/>
            <a:ext cx="12188952" cy="347472"/>
          </a:xfrm>
          <a:prstGeom prst="rect">
            <a:avLst/>
          </a:prstGeom>
          <a:solidFill>
            <a:srgbClr val="0B0C0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 txBox="1"/>
          <p:nvPr/>
        </p:nvSpPr>
        <p:spPr>
          <a:xfrm>
            <a:off x="274320" y="45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 OF LONDON  |  Greater London Authority</a:t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0" y="347472"/>
            <a:ext cx="12188952" cy="320040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</a:t>
            </a:r>
            <a:endParaRPr/>
          </a:p>
        </p:txBody>
      </p:sp>
      <p:sp>
        <p:nvSpPr>
          <p:cNvPr id="600" name="Google Shape;600;p13"/>
          <p:cNvSpPr txBox="1"/>
          <p:nvPr/>
        </p:nvSpPr>
        <p:spPr>
          <a:xfrm>
            <a:off x="548640" y="1691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857D"/>
                </a:solidFill>
                <a:latin typeface="Arial"/>
                <a:ea typeface="Arial"/>
                <a:cs typeface="Arial"/>
                <a:sym typeface="Arial"/>
              </a:rPr>
              <a:t>Data for public good.</a:t>
            </a:r>
            <a:endParaRPr/>
          </a:p>
        </p:txBody>
      </p:sp>
      <p:sp>
        <p:nvSpPr>
          <p:cNvPr id="601" name="Google Shape;601;p13"/>
          <p:cNvSpPr txBox="1"/>
          <p:nvPr/>
        </p:nvSpPr>
        <p:spPr>
          <a:xfrm>
            <a:off x="548640" y="224028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We didn't just find the problem — we built the governance layer to fix it.</a:t>
            </a:r>
            <a:b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C8D8F0"/>
                </a:solidFill>
                <a:latin typeface="Arial"/>
                <a:ea typeface="Arial"/>
                <a:cs typeface="Arial"/>
                <a:sym typeface="Arial"/>
              </a:rPr>
              <a:t>Open source. Reproducible. Ready to deploy.</a:t>
            </a: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0" y="3547872"/>
            <a:ext cx="12188952" cy="36576"/>
          </a:xfrm>
          <a:prstGeom prst="rect">
            <a:avLst/>
          </a:prstGeom>
          <a:solidFill>
            <a:srgbClr val="0085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0" y="3584448"/>
            <a:ext cx="12188952" cy="2926080"/>
          </a:xfrm>
          <a:prstGeom prst="rect">
            <a:avLst/>
          </a:prstGeom>
          <a:solidFill>
            <a:srgbClr val="F3F2F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 txBox="1"/>
          <p:nvPr/>
        </p:nvSpPr>
        <p:spPr>
          <a:xfrm>
            <a:off x="548640" y="3749039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Live Dashboard</a:t>
            </a:r>
            <a:endParaRPr/>
          </a:p>
        </p:txBody>
      </p:sp>
      <p:sp>
        <p:nvSpPr>
          <p:cNvPr id="605" name="Google Shape;605;p13"/>
          <p:cNvSpPr txBox="1"/>
          <p:nvPr/>
        </p:nvSpPr>
        <p:spPr>
          <a:xfrm>
            <a:off x="548640" y="40233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londondash-ybc9ak2e.manus.space</a:t>
            </a:r>
            <a:endParaRPr/>
          </a:p>
        </p:txBody>
      </p:sp>
      <p:sp>
        <p:nvSpPr>
          <p:cNvPr id="606" name="Google Shape;606;p13"/>
          <p:cNvSpPr txBox="1"/>
          <p:nvPr/>
        </p:nvSpPr>
        <p:spPr>
          <a:xfrm>
            <a:off x="548640" y="4754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20,685</a:t>
            </a:r>
            <a:endParaRPr/>
          </a:p>
        </p:txBody>
      </p:sp>
      <p:sp>
        <p:nvSpPr>
          <p:cNvPr id="607" name="Google Shape;607;p13"/>
          <p:cNvSpPr txBox="1"/>
          <p:nvPr/>
        </p:nvSpPr>
        <p:spPr>
          <a:xfrm>
            <a:off x="548640" y="5257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Datasets classified</a:t>
            </a:r>
            <a:endParaRPr/>
          </a:p>
        </p:txBody>
      </p:sp>
      <p:sp>
        <p:nvSpPr>
          <p:cNvPr id="608" name="Google Shape;608;p13"/>
          <p:cNvSpPr txBox="1"/>
          <p:nvPr/>
        </p:nvSpPr>
        <p:spPr>
          <a:xfrm>
            <a:off x="3383280" y="4754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609" name="Google Shape;609;p13"/>
          <p:cNvSpPr txBox="1"/>
          <p:nvPr/>
        </p:nvSpPr>
        <p:spPr>
          <a:xfrm>
            <a:off x="3383280" y="5257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User-intent categories</a:t>
            </a:r>
            <a:endParaRPr/>
          </a:p>
        </p:txBody>
      </p:sp>
      <p:sp>
        <p:nvSpPr>
          <p:cNvPr id="610" name="Google Shape;610;p13"/>
          <p:cNvSpPr txBox="1"/>
          <p:nvPr/>
        </p:nvSpPr>
        <p:spPr>
          <a:xfrm>
            <a:off x="6217920" y="4754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  <a:endParaRPr/>
          </a:p>
        </p:txBody>
      </p:sp>
      <p:sp>
        <p:nvSpPr>
          <p:cNvPr id="611" name="Google Shape;611;p13"/>
          <p:cNvSpPr txBox="1"/>
          <p:nvPr/>
        </p:nvSpPr>
        <p:spPr>
          <a:xfrm>
            <a:off x="6217920" y="5257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Duplicated Datasets</a:t>
            </a:r>
            <a:endParaRPr/>
          </a:p>
        </p:txBody>
      </p:sp>
      <p:sp>
        <p:nvSpPr>
          <p:cNvPr id="612" name="Google Shape;612;p13"/>
          <p:cNvSpPr txBox="1"/>
          <p:nvPr/>
        </p:nvSpPr>
        <p:spPr>
          <a:xfrm>
            <a:off x="9052560" y="4754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307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13" name="Google Shape;613;p13"/>
          <p:cNvSpPr txBox="1"/>
          <p:nvPr/>
        </p:nvSpPr>
        <p:spPr>
          <a:xfrm>
            <a:off x="9052560" y="5257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Policy recommendations</a:t>
            </a:r>
            <a:endParaRPr/>
          </a:p>
        </p:txBody>
      </p:sp>
      <p:sp>
        <p:nvSpPr>
          <p:cNvPr id="614" name="Google Shape;614;p13"/>
          <p:cNvSpPr txBox="1"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05A5F"/>
                </a:solidFill>
                <a:latin typeface="Arial"/>
                <a:ea typeface="Arial"/>
                <a:cs typeface="Arial"/>
                <a:sym typeface="Arial"/>
              </a:rPr>
              <a:t>Probabl Hackathon 2026  ·  Open Data Track</a:t>
            </a:r>
            <a:endParaRPr/>
          </a:p>
        </p:txBody>
      </p:sp>
      <p:sp>
        <p:nvSpPr>
          <p:cNvPr id="615" name="Google Shape;615;p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0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3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AI Governance  ·  Data for London Hackathon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